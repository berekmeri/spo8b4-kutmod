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0"/>
  </p:notesMasterIdLst>
  <p:sldIdLst>
    <p:sldId id="256" r:id="rId2"/>
    <p:sldId id="257" r:id="rId3"/>
    <p:sldId id="258" r:id="rId4"/>
    <p:sldId id="263" r:id="rId5"/>
    <p:sldId id="264" r:id="rId6"/>
    <p:sldId id="272" r:id="rId7"/>
    <p:sldId id="268" r:id="rId8"/>
    <p:sldId id="290" r:id="rId9"/>
  </p:sldIdLst>
  <p:sldSz cx="9144000" cy="5143500" type="screen16x9"/>
  <p:notesSz cx="6858000" cy="9144000"/>
  <p:embeddedFontLst>
    <p:embeddedFont>
      <p:font typeface="DM Sans" pitchFamily="2" charset="-18"/>
      <p:regular r:id="rId11"/>
      <p:bold r:id="rId12"/>
      <p:italic r:id="rId13"/>
      <p:boldItalic r:id="rId14"/>
    </p:embeddedFont>
    <p:embeddedFont>
      <p:font typeface="DM Sans Medium" pitchFamily="2" charset="-18"/>
      <p:regular r:id="rId15"/>
      <p:bold r:id="rId16"/>
      <p:italic r:id="rId17"/>
      <p:boldItalic r:id="rId18"/>
    </p:embeddedFont>
    <p:embeddedFont>
      <p:font typeface="Nunito Light" pitchFamily="2" charset="-18"/>
      <p:regular r:id="rId19"/>
      <p:italic r:id="rId20"/>
    </p:embeddedFont>
    <p:embeddedFont>
      <p:font typeface="Outfit" panose="020B0604020202020204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A254894-0E08-4CBD-9C4D-2C942C0DA7EA}">
  <a:tblStyle styleId="{BA254894-0E08-4CBD-9C4D-2C942C0DA7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u-HU" b="1" dirty="0"/>
              <a:t>300 teljes mélységű döntési fát</a:t>
            </a:r>
            <a:r>
              <a:rPr lang="hu-HU" dirty="0"/>
              <a:t> épít fel</a:t>
            </a:r>
            <a:br>
              <a:rPr lang="hu-HU" dirty="0"/>
            </a:br>
            <a:r>
              <a:rPr lang="hu-HU" dirty="0"/>
              <a:t>→ ez stabilabb, kiegyensúlyozottabb előrejelzést ad.</a:t>
            </a:r>
          </a:p>
          <a:p>
            <a:r>
              <a:rPr lang="hu-HU" b="1" dirty="0" err="1"/>
              <a:t>Bootstrap</a:t>
            </a:r>
            <a:r>
              <a:rPr lang="hu-HU" b="1" dirty="0"/>
              <a:t> mintavételezést</a:t>
            </a:r>
            <a:r>
              <a:rPr lang="hu-HU" dirty="0"/>
              <a:t> használ</a:t>
            </a:r>
            <a:br>
              <a:rPr lang="hu-HU" dirty="0"/>
            </a:br>
            <a:r>
              <a:rPr lang="hu-HU" dirty="0"/>
              <a:t>→ minden fa a </a:t>
            </a:r>
            <a:r>
              <a:rPr lang="hu-HU" dirty="0" err="1"/>
              <a:t>data</a:t>
            </a:r>
            <a:r>
              <a:rPr lang="hu-HU" dirty="0"/>
              <a:t> egy véletlen, visszatevéses mintáján tanul, így a fák különbözni fognak egymástól.</a:t>
            </a:r>
          </a:p>
          <a:p>
            <a:r>
              <a:rPr lang="hu-HU" b="1" dirty="0" err="1"/>
              <a:t>Square-root</a:t>
            </a:r>
            <a:r>
              <a:rPr lang="hu-HU" b="1" dirty="0"/>
              <a:t> </a:t>
            </a:r>
            <a:r>
              <a:rPr lang="hu-HU" b="1" dirty="0" err="1"/>
              <a:t>feature</a:t>
            </a:r>
            <a:r>
              <a:rPr lang="hu-HU" b="1" dirty="0"/>
              <a:t> </a:t>
            </a:r>
            <a:r>
              <a:rPr lang="hu-HU" b="1" dirty="0" err="1"/>
              <a:t>selection</a:t>
            </a:r>
            <a:r>
              <a:rPr lang="hu-HU" b="1" dirty="0"/>
              <a:t> (</a:t>
            </a:r>
            <a:r>
              <a:rPr lang="hu-HU" b="1" dirty="0" err="1"/>
              <a:t>max_features</a:t>
            </a:r>
            <a:r>
              <a:rPr lang="hu-HU" b="1" dirty="0"/>
              <a:t> = "</a:t>
            </a:r>
            <a:r>
              <a:rPr lang="hu-HU" b="1" dirty="0" err="1"/>
              <a:t>sqrt</a:t>
            </a:r>
            <a:r>
              <a:rPr lang="hu-HU" b="1" dirty="0"/>
              <a:t>")</a:t>
            </a:r>
            <a:br>
              <a:rPr lang="hu-HU" dirty="0"/>
            </a:br>
            <a:r>
              <a:rPr lang="hu-HU" dirty="0"/>
              <a:t>→ minden döntésnél a változók csak egy véletlen, √N méretű részhalmazából választ a modell.</a:t>
            </a:r>
            <a:br>
              <a:rPr lang="hu-HU" dirty="0"/>
            </a:br>
            <a:r>
              <a:rPr lang="hu-HU" dirty="0"/>
              <a:t>→ ez növeli a fák sokféleségét, és csökkenti a túlillesztést.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u-HU" b="1" dirty="0"/>
              <a:t>300 teljes mélységű döntési fát</a:t>
            </a:r>
            <a:r>
              <a:rPr lang="hu-HU" dirty="0"/>
              <a:t> épít fel</a:t>
            </a:r>
            <a:br>
              <a:rPr lang="hu-HU" dirty="0"/>
            </a:br>
            <a:r>
              <a:rPr lang="hu-HU" dirty="0"/>
              <a:t>→ ez stabilabb, kiegyensúlyozottabb előrejelzést ad.</a:t>
            </a:r>
          </a:p>
          <a:p>
            <a:r>
              <a:rPr lang="hu-HU" b="1" dirty="0" err="1"/>
              <a:t>Bootstrap</a:t>
            </a:r>
            <a:r>
              <a:rPr lang="hu-HU" b="1" dirty="0"/>
              <a:t> mintavételezést</a:t>
            </a:r>
            <a:r>
              <a:rPr lang="hu-HU" dirty="0"/>
              <a:t> használ</a:t>
            </a:r>
            <a:br>
              <a:rPr lang="hu-HU" dirty="0"/>
            </a:br>
            <a:r>
              <a:rPr lang="hu-HU" dirty="0"/>
              <a:t>→ minden fa a </a:t>
            </a:r>
            <a:r>
              <a:rPr lang="hu-HU" dirty="0" err="1"/>
              <a:t>data</a:t>
            </a:r>
            <a:r>
              <a:rPr lang="hu-HU" dirty="0"/>
              <a:t> egy véletlen, visszatevéses mintáján tanul, így a fák különbözni fognak egymástól.</a:t>
            </a:r>
          </a:p>
          <a:p>
            <a:r>
              <a:rPr lang="hu-HU" b="1" dirty="0" err="1"/>
              <a:t>Square-root</a:t>
            </a:r>
            <a:r>
              <a:rPr lang="hu-HU" b="1" dirty="0"/>
              <a:t> </a:t>
            </a:r>
            <a:r>
              <a:rPr lang="hu-HU" b="1" dirty="0" err="1"/>
              <a:t>feature</a:t>
            </a:r>
            <a:r>
              <a:rPr lang="hu-HU" b="1" dirty="0"/>
              <a:t> </a:t>
            </a:r>
            <a:r>
              <a:rPr lang="hu-HU" b="1" dirty="0" err="1"/>
              <a:t>selection</a:t>
            </a:r>
            <a:r>
              <a:rPr lang="hu-HU" b="1" dirty="0"/>
              <a:t> (</a:t>
            </a:r>
            <a:r>
              <a:rPr lang="hu-HU" b="1" dirty="0" err="1"/>
              <a:t>max_features</a:t>
            </a:r>
            <a:r>
              <a:rPr lang="hu-HU" b="1" dirty="0"/>
              <a:t> = "</a:t>
            </a:r>
            <a:r>
              <a:rPr lang="hu-HU" b="1" dirty="0" err="1"/>
              <a:t>sqrt</a:t>
            </a:r>
            <a:r>
              <a:rPr lang="hu-HU" b="1" dirty="0"/>
              <a:t>")</a:t>
            </a:r>
            <a:br>
              <a:rPr lang="hu-HU" dirty="0"/>
            </a:br>
            <a:r>
              <a:rPr lang="hu-HU" dirty="0"/>
              <a:t>→ minden döntésnél a változók csak egy véletlen, √N méretű részhalmazából választ a modell.</a:t>
            </a:r>
            <a:br>
              <a:rPr lang="hu-HU" dirty="0"/>
            </a:br>
            <a:r>
              <a:rPr lang="hu-HU" dirty="0"/>
              <a:t>→ ez növeli a fák sokféleségét, és csökkenti a túlillesztést.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156000"/>
            <a:ext cx="4160700" cy="238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4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7" name="Google Shape;17;p4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4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4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4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4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3"/>
          <p:cNvGrpSpPr/>
          <p:nvPr/>
        </p:nvGrpSpPr>
        <p:grpSpPr>
          <a:xfrm>
            <a:off x="-417711" y="-428628"/>
            <a:ext cx="9979385" cy="6000759"/>
            <a:chOff x="-417711" y="-428628"/>
            <a:chExt cx="9979385" cy="6000759"/>
          </a:xfrm>
        </p:grpSpPr>
        <p:sp>
          <p:nvSpPr>
            <p:cNvPr id="70" name="Google Shape;70;p13"/>
            <p:cNvSpPr/>
            <p:nvPr/>
          </p:nvSpPr>
          <p:spPr>
            <a:xfrm>
              <a:off x="421002" y="-4286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7884277" y="-4286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8430764" y="554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8430764" y="7462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-125486" y="554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-125486" y="7462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-417711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8722964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" name="Google Shape;78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"/>
          </p:nvPr>
        </p:nvSpPr>
        <p:spPr>
          <a:xfrm>
            <a:off x="720000" y="21784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2"/>
          </p:nvPr>
        </p:nvSpPr>
        <p:spPr>
          <a:xfrm>
            <a:off x="3419271" y="21784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3"/>
          </p:nvPr>
        </p:nvSpPr>
        <p:spPr>
          <a:xfrm>
            <a:off x="720000" y="39116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4"/>
          </p:nvPr>
        </p:nvSpPr>
        <p:spPr>
          <a:xfrm>
            <a:off x="3419271" y="39116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5"/>
          </p:nvPr>
        </p:nvSpPr>
        <p:spPr>
          <a:xfrm>
            <a:off x="6118549" y="21784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6"/>
          </p:nvPr>
        </p:nvSpPr>
        <p:spPr>
          <a:xfrm>
            <a:off x="6118549" y="39116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7" hasCustomPrompt="1"/>
          </p:nvPr>
        </p:nvSpPr>
        <p:spPr>
          <a:xfrm>
            <a:off x="1505400" y="1206926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8" hasCustomPrompt="1"/>
          </p:nvPr>
        </p:nvSpPr>
        <p:spPr>
          <a:xfrm>
            <a:off x="1505400" y="2939527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9" hasCustomPrompt="1"/>
          </p:nvPr>
        </p:nvSpPr>
        <p:spPr>
          <a:xfrm>
            <a:off x="4204671" y="1206926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13" hasCustomPrompt="1"/>
          </p:nvPr>
        </p:nvSpPr>
        <p:spPr>
          <a:xfrm>
            <a:off x="4204671" y="2939527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14" hasCustomPrompt="1"/>
          </p:nvPr>
        </p:nvSpPr>
        <p:spPr>
          <a:xfrm>
            <a:off x="6903950" y="1206926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5" hasCustomPrompt="1"/>
          </p:nvPr>
        </p:nvSpPr>
        <p:spPr>
          <a:xfrm>
            <a:off x="6903950" y="2939527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16"/>
          </p:nvPr>
        </p:nvSpPr>
        <p:spPr>
          <a:xfrm>
            <a:off x="720000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7"/>
          </p:nvPr>
        </p:nvSpPr>
        <p:spPr>
          <a:xfrm>
            <a:off x="3419271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18"/>
          </p:nvPr>
        </p:nvSpPr>
        <p:spPr>
          <a:xfrm>
            <a:off x="6118549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19"/>
          </p:nvPr>
        </p:nvSpPr>
        <p:spPr>
          <a:xfrm>
            <a:off x="720000" y="353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20"/>
          </p:nvPr>
        </p:nvSpPr>
        <p:spPr>
          <a:xfrm>
            <a:off x="3419271" y="353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21"/>
          </p:nvPr>
        </p:nvSpPr>
        <p:spPr>
          <a:xfrm>
            <a:off x="6118549" y="353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4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99" name="Google Shape;99;p14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4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4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4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" name="Google Shape;107;p14"/>
          <p:cNvSpPr txBox="1">
            <a:spLocks noGrp="1"/>
          </p:cNvSpPr>
          <p:nvPr>
            <p:ph type="title"/>
          </p:nvPr>
        </p:nvSpPr>
        <p:spPr>
          <a:xfrm>
            <a:off x="1226425" y="3229500"/>
            <a:ext cx="6691200" cy="5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subTitle" idx="1"/>
          </p:nvPr>
        </p:nvSpPr>
        <p:spPr>
          <a:xfrm>
            <a:off x="1226413" y="1366200"/>
            <a:ext cx="6691200" cy="18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24"/>
          <p:cNvGrpSpPr/>
          <p:nvPr/>
        </p:nvGrpSpPr>
        <p:grpSpPr>
          <a:xfrm>
            <a:off x="-310473" y="3500727"/>
            <a:ext cx="9764950" cy="2327954"/>
            <a:chOff x="-310473" y="3500727"/>
            <a:chExt cx="9764950" cy="2327954"/>
          </a:xfrm>
        </p:grpSpPr>
        <p:sp>
          <p:nvSpPr>
            <p:cNvPr id="217" name="Google Shape;217;p24"/>
            <p:cNvSpPr/>
            <p:nvPr/>
          </p:nvSpPr>
          <p:spPr>
            <a:xfrm rot="10800000" flipH="1">
              <a:off x="927364" y="46300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4"/>
            <p:cNvSpPr/>
            <p:nvPr/>
          </p:nvSpPr>
          <p:spPr>
            <a:xfrm rot="10800000" flipH="1">
              <a:off x="273054" y="48605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4"/>
            <p:cNvSpPr/>
            <p:nvPr/>
          </p:nvSpPr>
          <p:spPr>
            <a:xfrm>
              <a:off x="-310473" y="39963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4"/>
            <p:cNvSpPr/>
            <p:nvPr/>
          </p:nvSpPr>
          <p:spPr>
            <a:xfrm>
              <a:off x="-125483" y="35007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4"/>
            <p:cNvSpPr/>
            <p:nvPr/>
          </p:nvSpPr>
          <p:spPr>
            <a:xfrm flipH="1">
              <a:off x="8615767" y="39963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4"/>
            <p:cNvSpPr/>
            <p:nvPr/>
          </p:nvSpPr>
          <p:spPr>
            <a:xfrm flipH="1">
              <a:off x="8424002" y="35007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4"/>
            <p:cNvSpPr/>
            <p:nvPr/>
          </p:nvSpPr>
          <p:spPr>
            <a:xfrm rot="10800000">
              <a:off x="7377929" y="46300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4"/>
            <p:cNvSpPr/>
            <p:nvPr/>
          </p:nvSpPr>
          <p:spPr>
            <a:xfrm rot="10800000">
              <a:off x="8032239" y="48605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5" name="Google Shape;225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4"/>
          <p:cNvSpPr txBox="1">
            <a:spLocks noGrp="1"/>
          </p:cNvSpPr>
          <p:nvPr>
            <p:ph type="subTitle" idx="1"/>
          </p:nvPr>
        </p:nvSpPr>
        <p:spPr>
          <a:xfrm>
            <a:off x="4821081" y="2782975"/>
            <a:ext cx="2844000" cy="11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24"/>
          <p:cNvSpPr txBox="1">
            <a:spLocks noGrp="1"/>
          </p:cNvSpPr>
          <p:nvPr>
            <p:ph type="subTitle" idx="2"/>
          </p:nvPr>
        </p:nvSpPr>
        <p:spPr>
          <a:xfrm>
            <a:off x="1478950" y="2782975"/>
            <a:ext cx="2844000" cy="11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4"/>
          <p:cNvSpPr txBox="1">
            <a:spLocks noGrp="1"/>
          </p:cNvSpPr>
          <p:nvPr>
            <p:ph type="subTitle" idx="3"/>
          </p:nvPr>
        </p:nvSpPr>
        <p:spPr>
          <a:xfrm>
            <a:off x="1478950" y="2370625"/>
            <a:ext cx="2844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29" name="Google Shape;229;p24"/>
          <p:cNvSpPr txBox="1">
            <a:spLocks noGrp="1"/>
          </p:cNvSpPr>
          <p:nvPr>
            <p:ph type="subTitle" idx="4"/>
          </p:nvPr>
        </p:nvSpPr>
        <p:spPr>
          <a:xfrm>
            <a:off x="4821091" y="2370625"/>
            <a:ext cx="2844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26"/>
          <p:cNvGrpSpPr/>
          <p:nvPr/>
        </p:nvGrpSpPr>
        <p:grpSpPr>
          <a:xfrm>
            <a:off x="-512036" y="-358023"/>
            <a:ext cx="10169413" cy="5930154"/>
            <a:chOff x="-512036" y="-358023"/>
            <a:chExt cx="10169413" cy="5930154"/>
          </a:xfrm>
        </p:grpSpPr>
        <p:sp>
          <p:nvSpPr>
            <p:cNvPr id="245" name="Google Shape;245;p26"/>
            <p:cNvSpPr/>
            <p:nvPr/>
          </p:nvSpPr>
          <p:spPr>
            <a:xfrm flipH="1">
              <a:off x="8430767" y="40742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6"/>
            <p:cNvSpPr/>
            <p:nvPr/>
          </p:nvSpPr>
          <p:spPr>
            <a:xfrm rot="10800000">
              <a:off x="8818667" y="182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6"/>
            <p:cNvSpPr/>
            <p:nvPr/>
          </p:nvSpPr>
          <p:spPr>
            <a:xfrm rot="10800000">
              <a:off x="8011414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6"/>
            <p:cNvSpPr/>
            <p:nvPr/>
          </p:nvSpPr>
          <p:spPr>
            <a:xfrm flipH="1">
              <a:off x="8430777" y="-3580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-124136" y="40742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6"/>
            <p:cNvSpPr/>
            <p:nvPr/>
          </p:nvSpPr>
          <p:spPr>
            <a:xfrm rot="10800000" flipH="1">
              <a:off x="-512036" y="182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6"/>
            <p:cNvSpPr/>
            <p:nvPr/>
          </p:nvSpPr>
          <p:spPr>
            <a:xfrm rot="10800000" flipH="1">
              <a:off x="295217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-124133" y="-3580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" name="Google Shape;253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26"/>
          <p:cNvSpPr txBox="1">
            <a:spLocks noGrp="1"/>
          </p:cNvSpPr>
          <p:nvPr>
            <p:ph type="subTitle" idx="1"/>
          </p:nvPr>
        </p:nvSpPr>
        <p:spPr>
          <a:xfrm>
            <a:off x="881225" y="2768751"/>
            <a:ext cx="22881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26"/>
          <p:cNvSpPr txBox="1">
            <a:spLocks noGrp="1"/>
          </p:cNvSpPr>
          <p:nvPr>
            <p:ph type="subTitle" idx="2"/>
          </p:nvPr>
        </p:nvSpPr>
        <p:spPr>
          <a:xfrm>
            <a:off x="3427950" y="2768751"/>
            <a:ext cx="22881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26"/>
          <p:cNvSpPr txBox="1">
            <a:spLocks noGrp="1"/>
          </p:cNvSpPr>
          <p:nvPr>
            <p:ph type="subTitle" idx="3"/>
          </p:nvPr>
        </p:nvSpPr>
        <p:spPr>
          <a:xfrm>
            <a:off x="5974700" y="2768751"/>
            <a:ext cx="22881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26"/>
          <p:cNvSpPr txBox="1">
            <a:spLocks noGrp="1"/>
          </p:cNvSpPr>
          <p:nvPr>
            <p:ph type="subTitle" idx="4"/>
          </p:nvPr>
        </p:nvSpPr>
        <p:spPr>
          <a:xfrm>
            <a:off x="881225" y="2250275"/>
            <a:ext cx="22881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58" name="Google Shape;258;p26"/>
          <p:cNvSpPr txBox="1">
            <a:spLocks noGrp="1"/>
          </p:cNvSpPr>
          <p:nvPr>
            <p:ph type="subTitle" idx="5"/>
          </p:nvPr>
        </p:nvSpPr>
        <p:spPr>
          <a:xfrm>
            <a:off x="3427954" y="2250275"/>
            <a:ext cx="22881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59" name="Google Shape;259;p26"/>
          <p:cNvSpPr txBox="1">
            <a:spLocks noGrp="1"/>
          </p:cNvSpPr>
          <p:nvPr>
            <p:ph type="subTitle" idx="6"/>
          </p:nvPr>
        </p:nvSpPr>
        <p:spPr>
          <a:xfrm>
            <a:off x="5974700" y="2250275"/>
            <a:ext cx="22881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9"/>
          <p:cNvSpPr txBox="1">
            <a:spLocks noGrp="1"/>
          </p:cNvSpPr>
          <p:nvPr>
            <p:ph type="title" hasCustomPrompt="1"/>
          </p:nvPr>
        </p:nvSpPr>
        <p:spPr>
          <a:xfrm>
            <a:off x="4351975" y="638350"/>
            <a:ext cx="4078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4" name="Google Shape;304;p29"/>
          <p:cNvSpPr txBox="1">
            <a:spLocks noGrp="1"/>
          </p:cNvSpPr>
          <p:nvPr>
            <p:ph type="subTitle" idx="1"/>
          </p:nvPr>
        </p:nvSpPr>
        <p:spPr>
          <a:xfrm>
            <a:off x="4351975" y="1327275"/>
            <a:ext cx="4078800" cy="41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5" name="Google Shape;305;p29"/>
          <p:cNvSpPr txBox="1">
            <a:spLocks noGrp="1"/>
          </p:cNvSpPr>
          <p:nvPr>
            <p:ph type="title" idx="2" hasCustomPrompt="1"/>
          </p:nvPr>
        </p:nvSpPr>
        <p:spPr>
          <a:xfrm>
            <a:off x="4351975" y="1990612"/>
            <a:ext cx="4078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29"/>
          <p:cNvSpPr txBox="1">
            <a:spLocks noGrp="1"/>
          </p:cNvSpPr>
          <p:nvPr>
            <p:ph type="subTitle" idx="3"/>
          </p:nvPr>
        </p:nvSpPr>
        <p:spPr>
          <a:xfrm>
            <a:off x="4351975" y="2679529"/>
            <a:ext cx="4078800" cy="41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7" name="Google Shape;307;p29"/>
          <p:cNvSpPr txBox="1">
            <a:spLocks noGrp="1"/>
          </p:cNvSpPr>
          <p:nvPr>
            <p:ph type="title" idx="4" hasCustomPrompt="1"/>
          </p:nvPr>
        </p:nvSpPr>
        <p:spPr>
          <a:xfrm>
            <a:off x="4351975" y="3342874"/>
            <a:ext cx="4078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8" name="Google Shape;308;p29"/>
          <p:cNvSpPr txBox="1">
            <a:spLocks noGrp="1"/>
          </p:cNvSpPr>
          <p:nvPr>
            <p:ph type="subTitle" idx="5"/>
          </p:nvPr>
        </p:nvSpPr>
        <p:spPr>
          <a:xfrm>
            <a:off x="4351975" y="4031799"/>
            <a:ext cx="4078800" cy="41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0"/>
          <p:cNvSpPr txBox="1">
            <a:spLocks noGrp="1"/>
          </p:cNvSpPr>
          <p:nvPr>
            <p:ph type="title"/>
          </p:nvPr>
        </p:nvSpPr>
        <p:spPr>
          <a:xfrm>
            <a:off x="713225" y="677525"/>
            <a:ext cx="50946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30"/>
          <p:cNvSpPr txBox="1">
            <a:spLocks noGrp="1"/>
          </p:cNvSpPr>
          <p:nvPr>
            <p:ph type="subTitle" idx="1"/>
          </p:nvPr>
        </p:nvSpPr>
        <p:spPr>
          <a:xfrm>
            <a:off x="713225" y="1841450"/>
            <a:ext cx="50946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30"/>
          <p:cNvSpPr txBox="1"/>
          <p:nvPr/>
        </p:nvSpPr>
        <p:spPr>
          <a:xfrm>
            <a:off x="713225" y="3611950"/>
            <a:ext cx="50946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200" b="1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31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315" name="Google Shape;315;p31"/>
            <p:cNvSpPr/>
            <p:nvPr/>
          </p:nvSpPr>
          <p:spPr>
            <a:xfrm>
              <a:off x="-125573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1"/>
            <p:cNvSpPr/>
            <p:nvPr/>
          </p:nvSpPr>
          <p:spPr>
            <a:xfrm>
              <a:off x="-125583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1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1"/>
            <p:cNvSpPr/>
            <p:nvPr/>
          </p:nvSpPr>
          <p:spPr>
            <a:xfrm rot="10800000" flipH="1">
              <a:off x="346967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1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1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1"/>
            <p:cNvSpPr/>
            <p:nvPr/>
          </p:nvSpPr>
          <p:spPr>
            <a:xfrm>
              <a:off x="8430777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1"/>
            <p:cNvSpPr/>
            <p:nvPr/>
          </p:nvSpPr>
          <p:spPr>
            <a:xfrm>
              <a:off x="8430767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32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325" name="Google Shape;325;p32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326" name="Google Shape;326;p32"/>
              <p:cNvSpPr/>
              <p:nvPr/>
            </p:nvSpPr>
            <p:spPr>
              <a:xfrm rot="10800000" flipH="1">
                <a:off x="-266661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32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32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32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32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32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4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32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3" name="Google Shape;333;p32"/>
            <p:cNvSpPr/>
            <p:nvPr/>
          </p:nvSpPr>
          <p:spPr>
            <a:xfrm rot="10800000" flipH="1">
              <a:off x="293867" y="47973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59" r:id="rId4"/>
    <p:sldLayoutId id="2147483660" r:id="rId5"/>
    <p:sldLayoutId id="2147483670" r:id="rId6"/>
    <p:sldLayoutId id="2147483672" r:id="rId7"/>
    <p:sldLayoutId id="2147483675" r:id="rId8"/>
    <p:sldLayoutId id="2147483676" r:id="rId9"/>
    <p:sldLayoutId id="2147483677" r:id="rId10"/>
    <p:sldLayoutId id="214748367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6"/>
          <p:cNvSpPr txBox="1">
            <a:spLocks noGrp="1"/>
          </p:cNvSpPr>
          <p:nvPr>
            <p:ph type="ctrTitle"/>
          </p:nvPr>
        </p:nvSpPr>
        <p:spPr>
          <a:xfrm>
            <a:off x="713225" y="1156000"/>
            <a:ext cx="5632766" cy="238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800" dirty="0"/>
              <a:t>Student Grades Are Hard to Predict: A Machine Learning Analysis on Synthetic Educational Data</a:t>
            </a:r>
            <a:endParaRPr sz="2800" dirty="0"/>
          </a:p>
        </p:txBody>
      </p:sp>
      <p:sp>
        <p:nvSpPr>
          <p:cNvPr id="345" name="Google Shape;345;p36"/>
          <p:cNvSpPr txBox="1">
            <a:spLocks noGrp="1"/>
          </p:cNvSpPr>
          <p:nvPr>
            <p:ph type="subTitle" idx="1"/>
          </p:nvPr>
        </p:nvSpPr>
        <p:spPr>
          <a:xfrm>
            <a:off x="1452453" y="4666180"/>
            <a:ext cx="416070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Barna Berekméri | Eötvös Loránd University</a:t>
            </a:r>
            <a:endParaRPr dirty="0"/>
          </a:p>
        </p:txBody>
      </p:sp>
      <p:cxnSp>
        <p:nvCxnSpPr>
          <p:cNvPr id="346" name="Google Shape;346;p36"/>
          <p:cNvCxnSpPr/>
          <p:nvPr/>
        </p:nvCxnSpPr>
        <p:spPr>
          <a:xfrm>
            <a:off x="823425" y="987213"/>
            <a:ext cx="373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7" name="Google Shape;347;p36"/>
          <p:cNvGrpSpPr/>
          <p:nvPr/>
        </p:nvGrpSpPr>
        <p:grpSpPr>
          <a:xfrm>
            <a:off x="5115337" y="-428624"/>
            <a:ext cx="4275118" cy="6450405"/>
            <a:chOff x="5115337" y="-428624"/>
            <a:chExt cx="4275118" cy="6450405"/>
          </a:xfrm>
        </p:grpSpPr>
        <p:sp>
          <p:nvSpPr>
            <p:cNvPr id="348" name="Google Shape;348;p36"/>
            <p:cNvSpPr/>
            <p:nvPr/>
          </p:nvSpPr>
          <p:spPr>
            <a:xfrm rot="10800000" flipH="1">
              <a:off x="8492525" y="-1927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6"/>
            <p:cNvSpPr/>
            <p:nvPr/>
          </p:nvSpPr>
          <p:spPr>
            <a:xfrm>
              <a:off x="8551745" y="326783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6"/>
            <p:cNvSpPr/>
            <p:nvPr/>
          </p:nvSpPr>
          <p:spPr>
            <a:xfrm>
              <a:off x="6606686" y="25473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6"/>
            <p:cNvSpPr/>
            <p:nvPr/>
          </p:nvSpPr>
          <p:spPr>
            <a:xfrm>
              <a:off x="7103477" y="-1533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6"/>
            <p:cNvSpPr/>
            <p:nvPr/>
          </p:nvSpPr>
          <p:spPr>
            <a:xfrm>
              <a:off x="6684072" y="3184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6"/>
            <p:cNvSpPr/>
            <p:nvPr/>
          </p:nvSpPr>
          <p:spPr>
            <a:xfrm>
              <a:off x="6109895" y="119408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6"/>
            <p:cNvSpPr/>
            <p:nvPr/>
          </p:nvSpPr>
          <p:spPr>
            <a:xfrm>
              <a:off x="6109895" y="69774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6"/>
            <p:cNvSpPr/>
            <p:nvPr/>
          </p:nvSpPr>
          <p:spPr>
            <a:xfrm>
              <a:off x="7587339" y="11940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6"/>
            <p:cNvSpPr/>
            <p:nvPr/>
          </p:nvSpPr>
          <p:spPr>
            <a:xfrm>
              <a:off x="5634170" y="-42862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6"/>
            <p:cNvSpPr/>
            <p:nvPr/>
          </p:nvSpPr>
          <p:spPr>
            <a:xfrm>
              <a:off x="7017892" y="207505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6"/>
            <p:cNvSpPr/>
            <p:nvPr/>
          </p:nvSpPr>
          <p:spPr>
            <a:xfrm>
              <a:off x="5193798" y="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6"/>
            <p:cNvSpPr/>
            <p:nvPr/>
          </p:nvSpPr>
          <p:spPr>
            <a:xfrm>
              <a:off x="8068891" y="16222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6"/>
            <p:cNvSpPr/>
            <p:nvPr/>
          </p:nvSpPr>
          <p:spPr>
            <a:xfrm rot="10800000" flipH="1">
              <a:off x="5115337" y="36559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6"/>
            <p:cNvSpPr/>
            <p:nvPr/>
          </p:nvSpPr>
          <p:spPr>
            <a:xfrm rot="10800000" flipH="1">
              <a:off x="6606680" y="392470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6"/>
            <p:cNvSpPr/>
            <p:nvPr/>
          </p:nvSpPr>
          <p:spPr>
            <a:xfrm rot="10800000" flipH="1">
              <a:off x="5983934" y="50536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6"/>
            <p:cNvSpPr/>
            <p:nvPr/>
          </p:nvSpPr>
          <p:spPr>
            <a:xfrm rot="10800000" flipH="1">
              <a:off x="7178797" y="353334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6"/>
            <p:cNvSpPr/>
            <p:nvPr/>
          </p:nvSpPr>
          <p:spPr>
            <a:xfrm rot="10800000" flipH="1">
              <a:off x="6606686" y="460940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6"/>
            <p:cNvSpPr/>
            <p:nvPr/>
          </p:nvSpPr>
          <p:spPr>
            <a:xfrm rot="10800000" flipH="1">
              <a:off x="5526543" y="412830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6"/>
            <p:cNvSpPr/>
            <p:nvPr/>
          </p:nvSpPr>
          <p:spPr>
            <a:xfrm>
              <a:off x="8117298" y="285223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6"/>
            <p:cNvSpPr/>
            <p:nvPr/>
          </p:nvSpPr>
          <p:spPr>
            <a:xfrm>
              <a:off x="8172542" y="30360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u-HU" sz="2800" dirty="0" err="1"/>
              <a:t>Student</a:t>
            </a:r>
            <a:r>
              <a:rPr lang="hu-HU" sz="2800" dirty="0"/>
              <a:t> Performance </a:t>
            </a:r>
            <a:r>
              <a:rPr lang="hu-HU" sz="2800" dirty="0" err="1"/>
              <a:t>Dataset</a:t>
            </a:r>
            <a:r>
              <a:rPr lang="hu-HU" sz="2800" dirty="0"/>
              <a:t> </a:t>
            </a:r>
            <a:r>
              <a:rPr lang="hu-HU" sz="2800" dirty="0" err="1"/>
              <a:t>from</a:t>
            </a:r>
            <a:r>
              <a:rPr lang="hu-HU" sz="2800" dirty="0"/>
              <a:t> </a:t>
            </a:r>
            <a:r>
              <a:rPr lang="hu-HU" sz="2800" dirty="0" err="1"/>
              <a:t>Kaggle</a:t>
            </a:r>
            <a:br>
              <a:rPr lang="hu-HU" sz="2800" dirty="0"/>
            </a:br>
            <a:endParaRPr sz="2800" dirty="0"/>
          </a:p>
        </p:txBody>
      </p:sp>
      <p:sp>
        <p:nvSpPr>
          <p:cNvPr id="373" name="Google Shape;373;p37"/>
          <p:cNvSpPr txBox="1">
            <a:spLocks noGrp="1"/>
          </p:cNvSpPr>
          <p:nvPr>
            <p:ph type="body" idx="1"/>
          </p:nvPr>
        </p:nvSpPr>
        <p:spPr>
          <a:xfrm>
            <a:off x="725399" y="1259928"/>
            <a:ext cx="7704000" cy="7465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dirty="0"/>
              <a:t>This synthetic version contains </a:t>
            </a:r>
            <a:r>
              <a:rPr lang="en-US" b="1" dirty="0"/>
              <a:t>1,000+ </a:t>
            </a:r>
            <a:r>
              <a:rPr lang="en-US" b="1" dirty="0" err="1"/>
              <a:t>records</a:t>
            </a:r>
            <a:r>
              <a:rPr lang="en-US" dirty="0" err="1"/>
              <a:t>,includes</a:t>
            </a:r>
            <a:r>
              <a:rPr lang="en-US" dirty="0"/>
              <a:t> </a:t>
            </a:r>
            <a:r>
              <a:rPr lang="en-US" b="1" dirty="0"/>
              <a:t>random missing values</a:t>
            </a:r>
            <a:r>
              <a:rPr lang="en-US" dirty="0"/>
              <a:t> and </a:t>
            </a:r>
            <a:r>
              <a:rPr lang="en-US" b="1" dirty="0"/>
              <a:t>intentional data errors</a:t>
            </a:r>
            <a:r>
              <a:rPr lang="hu-HU" b="1" dirty="0"/>
              <a:t>.</a:t>
            </a:r>
            <a:endParaRPr dirty="0"/>
          </a:p>
        </p:txBody>
      </p:sp>
      <p:sp>
        <p:nvSpPr>
          <p:cNvPr id="374" name="Google Shape;374;p37"/>
          <p:cNvSpPr txBox="1"/>
          <p:nvPr/>
        </p:nvSpPr>
        <p:spPr>
          <a:xfrm>
            <a:off x="872725" y="4061600"/>
            <a:ext cx="3240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 u="sng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5" name="Google Shape;375;p37"/>
          <p:cNvSpPr txBox="1"/>
          <p:nvPr/>
        </p:nvSpPr>
        <p:spPr>
          <a:xfrm>
            <a:off x="4424779" y="4061600"/>
            <a:ext cx="3846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 u="sng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376" name="Google Shape;376;p37"/>
          <p:cNvGraphicFramePr/>
          <p:nvPr>
            <p:extLst>
              <p:ext uri="{D42A27DB-BD31-4B8C-83A1-F6EECF244321}">
                <p14:modId xmlns:p14="http://schemas.microsoft.com/office/powerpoint/2010/main" val="3258353109"/>
              </p:ext>
            </p:extLst>
          </p:nvPr>
        </p:nvGraphicFramePr>
        <p:xfrm>
          <a:off x="872662" y="2272495"/>
          <a:ext cx="7398675" cy="2169150"/>
        </p:xfrm>
        <a:graphic>
          <a:graphicData uri="http://schemas.openxmlformats.org/drawingml/2006/table">
            <a:tbl>
              <a:tblPr>
                <a:noFill/>
                <a:tableStyleId>{BA254894-0E08-4CBD-9C4D-2C942C0DA7EA}</a:tableStyleId>
              </a:tblPr>
              <a:tblGrid>
                <a:gridCol w="208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14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hu-HU" sz="14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StudentID</a:t>
                      </a:r>
                      <a:endParaRPr lang="hu-HU" sz="1400" b="1" u="sng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Unique identifier for each student.</a:t>
                      </a:r>
                      <a:endParaRPr sz="10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hu-H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Gender</a:t>
                      </a:r>
                      <a:endParaRPr lang="hu-HU" sz="1400" b="1" u="sng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hu-H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Student’s</a:t>
                      </a:r>
                      <a:r>
                        <a:rPr lang="hu-H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gender.</a:t>
                      </a:r>
                      <a:endParaRPr sz="10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hu-HU" sz="14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AttendanceRate</a:t>
                      </a:r>
                      <a:endParaRPr lang="hu-HU" sz="1400" b="1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Percentage of attended classes (70–95%).</a:t>
                      </a:r>
                      <a:endParaRPr sz="10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hu-HU" sz="14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PreviousGrade</a:t>
                      </a:r>
                      <a:endParaRPr lang="hu-HU" sz="1400" b="1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Grade score from the previous academic term (60–90).</a:t>
                      </a:r>
                      <a:endParaRPr sz="10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14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ParentalSupport</a:t>
                      </a:r>
                      <a:r>
                        <a:rPr lang="hu-H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400" b="1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1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(High/Medium/Low)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 – Level of parental academic support.</a:t>
                      </a:r>
                      <a:endParaRPr sz="10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14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FinalGrade</a:t>
                      </a:r>
                      <a:r>
                        <a:rPr lang="hu-H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400" b="1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Student’s final grade in the course (62–92).</a:t>
                      </a:r>
                      <a:endParaRPr sz="1000" b="1" u="sng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hu-HU" dirty="0"/>
              <a:t>Data </a:t>
            </a:r>
            <a:r>
              <a:rPr lang="hu-HU" dirty="0" err="1"/>
              <a:t>Cleaning</a:t>
            </a:r>
            <a:r>
              <a:rPr lang="hu-HU" dirty="0"/>
              <a:t> </a:t>
            </a:r>
            <a:r>
              <a:rPr lang="hu-HU" dirty="0" err="1"/>
              <a:t>Steps</a:t>
            </a:r>
            <a:endParaRPr dirty="0"/>
          </a:p>
        </p:txBody>
      </p:sp>
      <p:sp>
        <p:nvSpPr>
          <p:cNvPr id="382" name="Google Shape;382;p38"/>
          <p:cNvSpPr txBox="1">
            <a:spLocks noGrp="1"/>
          </p:cNvSpPr>
          <p:nvPr>
            <p:ph type="subTitle" idx="3"/>
          </p:nvPr>
        </p:nvSpPr>
        <p:spPr>
          <a:xfrm>
            <a:off x="2173931" y="4401520"/>
            <a:ext cx="479613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Standardized column formats and cleaned inconsistent categorical values.</a:t>
            </a:r>
            <a:endParaRPr sz="1600" dirty="0">
              <a:solidFill>
                <a:srgbClr val="666666"/>
              </a:solidFill>
            </a:endParaRPr>
          </a:p>
        </p:txBody>
      </p:sp>
      <p:sp>
        <p:nvSpPr>
          <p:cNvPr id="383" name="Google Shape;383;p38"/>
          <p:cNvSpPr txBox="1">
            <a:spLocks noGrp="1"/>
          </p:cNvSpPr>
          <p:nvPr>
            <p:ph type="subTitle" idx="1"/>
          </p:nvPr>
        </p:nvSpPr>
        <p:spPr>
          <a:xfrm>
            <a:off x="719951" y="2692171"/>
            <a:ext cx="2305500" cy="7593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hu-HU" dirty="0" err="1"/>
              <a:t>Attendance</a:t>
            </a:r>
            <a:r>
              <a:rPr lang="hu-HU" dirty="0"/>
              <a:t> </a:t>
            </a:r>
            <a:r>
              <a:rPr lang="hu-HU" dirty="0" err="1"/>
              <a:t>rates</a:t>
            </a:r>
            <a:r>
              <a:rPr lang="hu-HU" dirty="0"/>
              <a:t> </a:t>
            </a:r>
            <a:r>
              <a:rPr lang="hu-HU" dirty="0" err="1"/>
              <a:t>outside</a:t>
            </a:r>
            <a:r>
              <a:rPr lang="hu-HU" dirty="0"/>
              <a:t> </a:t>
            </a:r>
            <a:r>
              <a:rPr lang="hu-HU" b="1" dirty="0"/>
              <a:t>0–100%</a:t>
            </a:r>
            <a:endParaRPr dirty="0"/>
          </a:p>
        </p:txBody>
      </p:sp>
      <p:sp>
        <p:nvSpPr>
          <p:cNvPr id="384" name="Google Shape;384;p38"/>
          <p:cNvSpPr txBox="1">
            <a:spLocks noGrp="1"/>
          </p:cNvSpPr>
          <p:nvPr>
            <p:ph type="subTitle" idx="2"/>
          </p:nvPr>
        </p:nvSpPr>
        <p:spPr>
          <a:xfrm>
            <a:off x="3508480" y="2666346"/>
            <a:ext cx="2305500" cy="9500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replaced missing values with the </a:t>
            </a:r>
            <a:r>
              <a:rPr lang="en-US" b="1" dirty="0"/>
              <a:t>median</a:t>
            </a:r>
            <a:r>
              <a:rPr lang="en-US" dirty="0"/>
              <a:t> of each column.</a:t>
            </a:r>
            <a:endParaRPr dirty="0"/>
          </a:p>
        </p:txBody>
      </p:sp>
      <p:sp>
        <p:nvSpPr>
          <p:cNvPr id="386" name="Google Shape;386;p38"/>
          <p:cNvSpPr txBox="1">
            <a:spLocks noGrp="1"/>
          </p:cNvSpPr>
          <p:nvPr>
            <p:ph type="subTitle" idx="5"/>
          </p:nvPr>
        </p:nvSpPr>
        <p:spPr>
          <a:xfrm>
            <a:off x="6118549" y="2666346"/>
            <a:ext cx="2571977" cy="9936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Identified and removed duplicate student records based on </a:t>
            </a:r>
            <a:r>
              <a:rPr lang="en-US" b="1" dirty="0" err="1"/>
              <a:t>StudentID</a:t>
            </a:r>
            <a:endParaRPr dirty="0"/>
          </a:p>
        </p:txBody>
      </p:sp>
      <p:sp>
        <p:nvSpPr>
          <p:cNvPr id="388" name="Google Shape;388;p38"/>
          <p:cNvSpPr txBox="1">
            <a:spLocks noGrp="1"/>
          </p:cNvSpPr>
          <p:nvPr>
            <p:ph type="title" idx="7"/>
          </p:nvPr>
        </p:nvSpPr>
        <p:spPr>
          <a:xfrm>
            <a:off x="1505400" y="1206926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89" name="Google Shape;389;p38"/>
          <p:cNvSpPr txBox="1">
            <a:spLocks noGrp="1"/>
          </p:cNvSpPr>
          <p:nvPr>
            <p:ph type="title" idx="8"/>
          </p:nvPr>
        </p:nvSpPr>
        <p:spPr>
          <a:xfrm>
            <a:off x="4293879" y="3576355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390" name="Google Shape;390;p38"/>
          <p:cNvSpPr txBox="1">
            <a:spLocks noGrp="1"/>
          </p:cNvSpPr>
          <p:nvPr>
            <p:ph type="title" idx="9"/>
          </p:nvPr>
        </p:nvSpPr>
        <p:spPr>
          <a:xfrm>
            <a:off x="4204671" y="1206926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92" name="Google Shape;392;p38"/>
          <p:cNvSpPr txBox="1">
            <a:spLocks noGrp="1"/>
          </p:cNvSpPr>
          <p:nvPr>
            <p:ph type="title" idx="14"/>
          </p:nvPr>
        </p:nvSpPr>
        <p:spPr>
          <a:xfrm>
            <a:off x="6903950" y="1206926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94" name="Google Shape;394;p38"/>
          <p:cNvSpPr txBox="1">
            <a:spLocks noGrp="1"/>
          </p:cNvSpPr>
          <p:nvPr>
            <p:ph type="subTitle" idx="16"/>
          </p:nvPr>
        </p:nvSpPr>
        <p:spPr>
          <a:xfrm>
            <a:off x="645659" y="1789108"/>
            <a:ext cx="2305500" cy="95007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hu-HU" dirty="0"/>
              <a:t>Fixing </a:t>
            </a:r>
            <a:r>
              <a:rPr lang="hu-HU" dirty="0" err="1"/>
              <a:t>Invalid</a:t>
            </a:r>
            <a:r>
              <a:rPr lang="hu-HU" dirty="0"/>
              <a:t> </a:t>
            </a:r>
            <a:r>
              <a:rPr lang="hu-HU" dirty="0" err="1"/>
              <a:t>Values</a:t>
            </a:r>
            <a:endParaRPr dirty="0"/>
          </a:p>
        </p:txBody>
      </p:sp>
      <p:sp>
        <p:nvSpPr>
          <p:cNvPr id="395" name="Google Shape;395;p38"/>
          <p:cNvSpPr txBox="1">
            <a:spLocks noGrp="1"/>
          </p:cNvSpPr>
          <p:nvPr>
            <p:ph type="subTitle" idx="17"/>
          </p:nvPr>
        </p:nvSpPr>
        <p:spPr>
          <a:xfrm>
            <a:off x="3508480" y="1779626"/>
            <a:ext cx="2305500" cy="9500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hu-HU" dirty="0" err="1"/>
              <a:t>Handling</a:t>
            </a:r>
            <a:r>
              <a:rPr lang="hu-HU" dirty="0"/>
              <a:t> </a:t>
            </a:r>
            <a:r>
              <a:rPr lang="hu-HU" dirty="0" err="1"/>
              <a:t>Missing</a:t>
            </a:r>
            <a:r>
              <a:rPr lang="hu-HU" dirty="0"/>
              <a:t> Data</a:t>
            </a:r>
            <a:endParaRPr dirty="0"/>
          </a:p>
        </p:txBody>
      </p:sp>
      <p:sp>
        <p:nvSpPr>
          <p:cNvPr id="396" name="Google Shape;396;p38"/>
          <p:cNvSpPr txBox="1">
            <a:spLocks noGrp="1"/>
          </p:cNvSpPr>
          <p:nvPr>
            <p:ph type="subTitle" idx="18"/>
          </p:nvPr>
        </p:nvSpPr>
        <p:spPr>
          <a:xfrm>
            <a:off x="6118549" y="1801111"/>
            <a:ext cx="2305500" cy="95007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hu-HU" dirty="0" err="1"/>
              <a:t>Removing</a:t>
            </a:r>
            <a:r>
              <a:rPr lang="hu-HU" dirty="0"/>
              <a:t> </a:t>
            </a:r>
            <a:r>
              <a:rPr lang="hu-HU" dirty="0" err="1"/>
              <a:t>Duplicates</a:t>
            </a:r>
            <a:endParaRPr dirty="0"/>
          </a:p>
        </p:txBody>
      </p:sp>
      <p:sp>
        <p:nvSpPr>
          <p:cNvPr id="397" name="Google Shape;397;p38"/>
          <p:cNvSpPr txBox="1">
            <a:spLocks noGrp="1"/>
          </p:cNvSpPr>
          <p:nvPr>
            <p:ph type="subTitle" idx="19"/>
          </p:nvPr>
        </p:nvSpPr>
        <p:spPr>
          <a:xfrm>
            <a:off x="2445298" y="3989840"/>
            <a:ext cx="4431863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hu-HU" dirty="0" err="1"/>
              <a:t>Ensuring</a:t>
            </a:r>
            <a:r>
              <a:rPr lang="hu-HU" dirty="0"/>
              <a:t> </a:t>
            </a:r>
            <a:r>
              <a:rPr lang="hu-HU" dirty="0" err="1"/>
              <a:t>Dataset</a:t>
            </a:r>
            <a:r>
              <a:rPr lang="hu-HU" dirty="0"/>
              <a:t> </a:t>
            </a:r>
            <a:r>
              <a:rPr lang="hu-HU" dirty="0" err="1"/>
              <a:t>Consistency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dirty="0" err="1"/>
              <a:t>Feature</a:t>
            </a:r>
            <a:r>
              <a:rPr lang="hu-HU" sz="2800" dirty="0"/>
              <a:t> </a:t>
            </a:r>
            <a:r>
              <a:rPr lang="hu-HU" sz="2800" dirty="0" err="1"/>
              <a:t>Importance</a:t>
            </a:r>
            <a:r>
              <a:rPr lang="hu-HU" sz="2800" dirty="0"/>
              <a:t> </a:t>
            </a:r>
            <a:r>
              <a:rPr lang="hu-HU" sz="2800" dirty="0" err="1"/>
              <a:t>according</a:t>
            </a:r>
            <a:r>
              <a:rPr lang="hu-HU" sz="2800" dirty="0"/>
              <a:t> </a:t>
            </a:r>
            <a:r>
              <a:rPr lang="hu-HU" sz="2800" dirty="0" err="1"/>
              <a:t>to</a:t>
            </a:r>
            <a:r>
              <a:rPr lang="hu-HU" sz="2800" dirty="0"/>
              <a:t> Random Forest</a:t>
            </a:r>
            <a:endParaRPr sz="2800" dirty="0"/>
          </a:p>
        </p:txBody>
      </p:sp>
      <p:sp>
        <p:nvSpPr>
          <p:cNvPr id="490" name="Google Shape;490;p43"/>
          <p:cNvSpPr txBox="1">
            <a:spLocks noGrp="1"/>
          </p:cNvSpPr>
          <p:nvPr>
            <p:ph type="subTitle" idx="3"/>
          </p:nvPr>
        </p:nvSpPr>
        <p:spPr>
          <a:xfrm>
            <a:off x="1478950" y="2370625"/>
            <a:ext cx="2844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Surveying</a:t>
            </a:r>
            <a:endParaRPr/>
          </a:p>
        </p:txBody>
      </p:sp>
      <p:grpSp>
        <p:nvGrpSpPr>
          <p:cNvPr id="492" name="Google Shape;492;p43"/>
          <p:cNvGrpSpPr/>
          <p:nvPr/>
        </p:nvGrpSpPr>
        <p:grpSpPr>
          <a:xfrm>
            <a:off x="2740477" y="1788585"/>
            <a:ext cx="320943" cy="392133"/>
            <a:chOff x="1343025" y="1333902"/>
            <a:chExt cx="320943" cy="392133"/>
          </a:xfrm>
        </p:grpSpPr>
        <p:sp>
          <p:nvSpPr>
            <p:cNvPr id="493" name="Google Shape;493;p43"/>
            <p:cNvSpPr/>
            <p:nvPr/>
          </p:nvSpPr>
          <p:spPr>
            <a:xfrm>
              <a:off x="1422961" y="1389769"/>
              <a:ext cx="161048" cy="161025"/>
            </a:xfrm>
            <a:custGeom>
              <a:avLst/>
              <a:gdLst/>
              <a:ahLst/>
              <a:cxnLst/>
              <a:rect l="l" t="t" r="r" b="b"/>
              <a:pathLst>
                <a:path w="7126" h="7125" extrusionOk="0">
                  <a:moveTo>
                    <a:pt x="4072" y="1115"/>
                  </a:moveTo>
                  <a:lnTo>
                    <a:pt x="4411" y="1212"/>
                  </a:lnTo>
                  <a:lnTo>
                    <a:pt x="4751" y="1357"/>
                  </a:lnTo>
                  <a:lnTo>
                    <a:pt x="5041" y="1551"/>
                  </a:lnTo>
                  <a:lnTo>
                    <a:pt x="5332" y="1793"/>
                  </a:lnTo>
                  <a:lnTo>
                    <a:pt x="5574" y="2084"/>
                  </a:lnTo>
                  <a:lnTo>
                    <a:pt x="5768" y="2375"/>
                  </a:lnTo>
                  <a:lnTo>
                    <a:pt x="5914" y="2714"/>
                  </a:lnTo>
                  <a:lnTo>
                    <a:pt x="6059" y="3053"/>
                  </a:lnTo>
                  <a:lnTo>
                    <a:pt x="4993" y="3053"/>
                  </a:lnTo>
                  <a:lnTo>
                    <a:pt x="4847" y="2763"/>
                  </a:lnTo>
                  <a:lnTo>
                    <a:pt x="4605" y="2520"/>
                  </a:lnTo>
                  <a:lnTo>
                    <a:pt x="4363" y="2278"/>
                  </a:lnTo>
                  <a:lnTo>
                    <a:pt x="4072" y="2133"/>
                  </a:lnTo>
                  <a:lnTo>
                    <a:pt x="4072" y="1115"/>
                  </a:lnTo>
                  <a:close/>
                  <a:moveTo>
                    <a:pt x="3539" y="3053"/>
                  </a:moveTo>
                  <a:lnTo>
                    <a:pt x="3733" y="3102"/>
                  </a:lnTo>
                  <a:lnTo>
                    <a:pt x="3927" y="3199"/>
                  </a:lnTo>
                  <a:lnTo>
                    <a:pt x="4024" y="3393"/>
                  </a:lnTo>
                  <a:lnTo>
                    <a:pt x="4072" y="3587"/>
                  </a:lnTo>
                  <a:lnTo>
                    <a:pt x="4024" y="3780"/>
                  </a:lnTo>
                  <a:lnTo>
                    <a:pt x="3927" y="3926"/>
                  </a:lnTo>
                  <a:lnTo>
                    <a:pt x="3733" y="4071"/>
                  </a:lnTo>
                  <a:lnTo>
                    <a:pt x="3345" y="4071"/>
                  </a:lnTo>
                  <a:lnTo>
                    <a:pt x="3200" y="3926"/>
                  </a:lnTo>
                  <a:lnTo>
                    <a:pt x="3054" y="3780"/>
                  </a:lnTo>
                  <a:lnTo>
                    <a:pt x="3054" y="3587"/>
                  </a:lnTo>
                  <a:lnTo>
                    <a:pt x="3054" y="3393"/>
                  </a:lnTo>
                  <a:lnTo>
                    <a:pt x="3200" y="3199"/>
                  </a:lnTo>
                  <a:lnTo>
                    <a:pt x="3345" y="3102"/>
                  </a:lnTo>
                  <a:lnTo>
                    <a:pt x="3539" y="3053"/>
                  </a:lnTo>
                  <a:close/>
                  <a:moveTo>
                    <a:pt x="3054" y="1115"/>
                  </a:moveTo>
                  <a:lnTo>
                    <a:pt x="3054" y="2133"/>
                  </a:lnTo>
                  <a:lnTo>
                    <a:pt x="2812" y="2230"/>
                  </a:lnTo>
                  <a:lnTo>
                    <a:pt x="2618" y="2375"/>
                  </a:lnTo>
                  <a:lnTo>
                    <a:pt x="2473" y="2520"/>
                  </a:lnTo>
                  <a:lnTo>
                    <a:pt x="2327" y="2714"/>
                  </a:lnTo>
                  <a:lnTo>
                    <a:pt x="2182" y="2908"/>
                  </a:lnTo>
                  <a:lnTo>
                    <a:pt x="2085" y="3102"/>
                  </a:lnTo>
                  <a:lnTo>
                    <a:pt x="2036" y="3344"/>
                  </a:lnTo>
                  <a:lnTo>
                    <a:pt x="2036" y="3587"/>
                  </a:lnTo>
                  <a:lnTo>
                    <a:pt x="2085" y="3926"/>
                  </a:lnTo>
                  <a:lnTo>
                    <a:pt x="2182" y="4217"/>
                  </a:lnTo>
                  <a:lnTo>
                    <a:pt x="1406" y="4992"/>
                  </a:lnTo>
                  <a:lnTo>
                    <a:pt x="1261" y="4653"/>
                  </a:lnTo>
                  <a:lnTo>
                    <a:pt x="1116" y="4314"/>
                  </a:lnTo>
                  <a:lnTo>
                    <a:pt x="1019" y="3974"/>
                  </a:lnTo>
                  <a:lnTo>
                    <a:pt x="1019" y="3587"/>
                  </a:lnTo>
                  <a:lnTo>
                    <a:pt x="1067" y="3150"/>
                  </a:lnTo>
                  <a:lnTo>
                    <a:pt x="1164" y="2714"/>
                  </a:lnTo>
                  <a:lnTo>
                    <a:pt x="1358" y="2326"/>
                  </a:lnTo>
                  <a:lnTo>
                    <a:pt x="1600" y="1987"/>
                  </a:lnTo>
                  <a:lnTo>
                    <a:pt x="1891" y="1648"/>
                  </a:lnTo>
                  <a:lnTo>
                    <a:pt x="2230" y="1406"/>
                  </a:lnTo>
                  <a:lnTo>
                    <a:pt x="2618" y="1212"/>
                  </a:lnTo>
                  <a:lnTo>
                    <a:pt x="3054" y="1115"/>
                  </a:lnTo>
                  <a:close/>
                  <a:moveTo>
                    <a:pt x="6059" y="4071"/>
                  </a:moveTo>
                  <a:lnTo>
                    <a:pt x="5914" y="4507"/>
                  </a:lnTo>
                  <a:lnTo>
                    <a:pt x="5720" y="4895"/>
                  </a:lnTo>
                  <a:lnTo>
                    <a:pt x="5478" y="5234"/>
                  </a:lnTo>
                  <a:lnTo>
                    <a:pt x="5138" y="5525"/>
                  </a:lnTo>
                  <a:lnTo>
                    <a:pt x="4799" y="5767"/>
                  </a:lnTo>
                  <a:lnTo>
                    <a:pt x="4411" y="5961"/>
                  </a:lnTo>
                  <a:lnTo>
                    <a:pt x="3975" y="6058"/>
                  </a:lnTo>
                  <a:lnTo>
                    <a:pt x="3539" y="6107"/>
                  </a:lnTo>
                  <a:lnTo>
                    <a:pt x="3151" y="6107"/>
                  </a:lnTo>
                  <a:lnTo>
                    <a:pt x="2812" y="6010"/>
                  </a:lnTo>
                  <a:lnTo>
                    <a:pt x="2473" y="5864"/>
                  </a:lnTo>
                  <a:lnTo>
                    <a:pt x="2133" y="5719"/>
                  </a:lnTo>
                  <a:lnTo>
                    <a:pt x="2909" y="4944"/>
                  </a:lnTo>
                  <a:lnTo>
                    <a:pt x="3200" y="5089"/>
                  </a:lnTo>
                  <a:lnTo>
                    <a:pt x="3781" y="5089"/>
                  </a:lnTo>
                  <a:lnTo>
                    <a:pt x="4024" y="5041"/>
                  </a:lnTo>
                  <a:lnTo>
                    <a:pt x="4217" y="4944"/>
                  </a:lnTo>
                  <a:lnTo>
                    <a:pt x="4411" y="4798"/>
                  </a:lnTo>
                  <a:lnTo>
                    <a:pt x="4605" y="4653"/>
                  </a:lnTo>
                  <a:lnTo>
                    <a:pt x="4751" y="4507"/>
                  </a:lnTo>
                  <a:lnTo>
                    <a:pt x="4896" y="4314"/>
                  </a:lnTo>
                  <a:lnTo>
                    <a:pt x="4993" y="4071"/>
                  </a:lnTo>
                  <a:close/>
                  <a:moveTo>
                    <a:pt x="3539" y="0"/>
                  </a:moveTo>
                  <a:lnTo>
                    <a:pt x="3200" y="49"/>
                  </a:lnTo>
                  <a:lnTo>
                    <a:pt x="2812" y="97"/>
                  </a:lnTo>
                  <a:lnTo>
                    <a:pt x="2473" y="194"/>
                  </a:lnTo>
                  <a:lnTo>
                    <a:pt x="2182" y="291"/>
                  </a:lnTo>
                  <a:lnTo>
                    <a:pt x="1843" y="436"/>
                  </a:lnTo>
                  <a:lnTo>
                    <a:pt x="1552" y="630"/>
                  </a:lnTo>
                  <a:lnTo>
                    <a:pt x="1310" y="824"/>
                  </a:lnTo>
                  <a:lnTo>
                    <a:pt x="1019" y="1066"/>
                  </a:lnTo>
                  <a:lnTo>
                    <a:pt x="825" y="1309"/>
                  </a:lnTo>
                  <a:lnTo>
                    <a:pt x="583" y="1600"/>
                  </a:lnTo>
                  <a:lnTo>
                    <a:pt x="437" y="1890"/>
                  </a:lnTo>
                  <a:lnTo>
                    <a:pt x="292" y="2181"/>
                  </a:lnTo>
                  <a:lnTo>
                    <a:pt x="146" y="2520"/>
                  </a:lnTo>
                  <a:lnTo>
                    <a:pt x="49" y="2860"/>
                  </a:lnTo>
                  <a:lnTo>
                    <a:pt x="1" y="3199"/>
                  </a:lnTo>
                  <a:lnTo>
                    <a:pt x="1" y="3587"/>
                  </a:lnTo>
                  <a:lnTo>
                    <a:pt x="1" y="3926"/>
                  </a:lnTo>
                  <a:lnTo>
                    <a:pt x="49" y="4314"/>
                  </a:lnTo>
                  <a:lnTo>
                    <a:pt x="146" y="4653"/>
                  </a:lnTo>
                  <a:lnTo>
                    <a:pt x="292" y="4944"/>
                  </a:lnTo>
                  <a:lnTo>
                    <a:pt x="437" y="5283"/>
                  </a:lnTo>
                  <a:lnTo>
                    <a:pt x="583" y="5574"/>
                  </a:lnTo>
                  <a:lnTo>
                    <a:pt x="825" y="5864"/>
                  </a:lnTo>
                  <a:lnTo>
                    <a:pt x="1019" y="6107"/>
                  </a:lnTo>
                  <a:lnTo>
                    <a:pt x="1310" y="6301"/>
                  </a:lnTo>
                  <a:lnTo>
                    <a:pt x="1552" y="6543"/>
                  </a:lnTo>
                  <a:lnTo>
                    <a:pt x="1843" y="6688"/>
                  </a:lnTo>
                  <a:lnTo>
                    <a:pt x="2182" y="6834"/>
                  </a:lnTo>
                  <a:lnTo>
                    <a:pt x="2473" y="6979"/>
                  </a:lnTo>
                  <a:lnTo>
                    <a:pt x="2812" y="7076"/>
                  </a:lnTo>
                  <a:lnTo>
                    <a:pt x="3200" y="7124"/>
                  </a:lnTo>
                  <a:lnTo>
                    <a:pt x="3927" y="7124"/>
                  </a:lnTo>
                  <a:lnTo>
                    <a:pt x="4266" y="7076"/>
                  </a:lnTo>
                  <a:lnTo>
                    <a:pt x="4605" y="6979"/>
                  </a:lnTo>
                  <a:lnTo>
                    <a:pt x="4944" y="6834"/>
                  </a:lnTo>
                  <a:lnTo>
                    <a:pt x="5235" y="6688"/>
                  </a:lnTo>
                  <a:lnTo>
                    <a:pt x="5526" y="6543"/>
                  </a:lnTo>
                  <a:lnTo>
                    <a:pt x="5817" y="6301"/>
                  </a:lnTo>
                  <a:lnTo>
                    <a:pt x="6059" y="6107"/>
                  </a:lnTo>
                  <a:lnTo>
                    <a:pt x="6301" y="5864"/>
                  </a:lnTo>
                  <a:lnTo>
                    <a:pt x="6495" y="5574"/>
                  </a:lnTo>
                  <a:lnTo>
                    <a:pt x="6689" y="5283"/>
                  </a:lnTo>
                  <a:lnTo>
                    <a:pt x="6835" y="4944"/>
                  </a:lnTo>
                  <a:lnTo>
                    <a:pt x="6931" y="4653"/>
                  </a:lnTo>
                  <a:lnTo>
                    <a:pt x="7028" y="4314"/>
                  </a:lnTo>
                  <a:lnTo>
                    <a:pt x="7077" y="3926"/>
                  </a:lnTo>
                  <a:lnTo>
                    <a:pt x="7125" y="3587"/>
                  </a:lnTo>
                  <a:lnTo>
                    <a:pt x="7077" y="3199"/>
                  </a:lnTo>
                  <a:lnTo>
                    <a:pt x="7028" y="2860"/>
                  </a:lnTo>
                  <a:lnTo>
                    <a:pt x="6931" y="2520"/>
                  </a:lnTo>
                  <a:lnTo>
                    <a:pt x="6835" y="2181"/>
                  </a:lnTo>
                  <a:lnTo>
                    <a:pt x="6689" y="1890"/>
                  </a:lnTo>
                  <a:lnTo>
                    <a:pt x="6495" y="1600"/>
                  </a:lnTo>
                  <a:lnTo>
                    <a:pt x="6301" y="1309"/>
                  </a:lnTo>
                  <a:lnTo>
                    <a:pt x="6059" y="1066"/>
                  </a:lnTo>
                  <a:lnTo>
                    <a:pt x="5817" y="824"/>
                  </a:lnTo>
                  <a:lnTo>
                    <a:pt x="5526" y="630"/>
                  </a:lnTo>
                  <a:lnTo>
                    <a:pt x="5235" y="436"/>
                  </a:lnTo>
                  <a:lnTo>
                    <a:pt x="4944" y="291"/>
                  </a:lnTo>
                  <a:lnTo>
                    <a:pt x="4605" y="194"/>
                  </a:lnTo>
                  <a:lnTo>
                    <a:pt x="4266" y="97"/>
                  </a:lnTo>
                  <a:lnTo>
                    <a:pt x="3927" y="49"/>
                  </a:lnTo>
                  <a:lnTo>
                    <a:pt x="35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43"/>
            <p:cNvSpPr/>
            <p:nvPr/>
          </p:nvSpPr>
          <p:spPr>
            <a:xfrm>
              <a:off x="1399977" y="1570479"/>
              <a:ext cx="205931" cy="109565"/>
            </a:xfrm>
            <a:custGeom>
              <a:avLst/>
              <a:gdLst/>
              <a:ahLst/>
              <a:cxnLst/>
              <a:rect l="l" t="t" r="r" b="b"/>
              <a:pathLst>
                <a:path w="9112" h="4848" extrusionOk="0">
                  <a:moveTo>
                    <a:pt x="3005" y="1019"/>
                  </a:moveTo>
                  <a:lnTo>
                    <a:pt x="3005" y="3830"/>
                  </a:lnTo>
                  <a:lnTo>
                    <a:pt x="1987" y="3830"/>
                  </a:lnTo>
                  <a:lnTo>
                    <a:pt x="1987" y="1019"/>
                  </a:lnTo>
                  <a:close/>
                  <a:moveTo>
                    <a:pt x="5041" y="2860"/>
                  </a:moveTo>
                  <a:lnTo>
                    <a:pt x="5041" y="3830"/>
                  </a:lnTo>
                  <a:lnTo>
                    <a:pt x="4023" y="3830"/>
                  </a:lnTo>
                  <a:lnTo>
                    <a:pt x="4023" y="2860"/>
                  </a:lnTo>
                  <a:close/>
                  <a:moveTo>
                    <a:pt x="7076" y="1697"/>
                  </a:moveTo>
                  <a:lnTo>
                    <a:pt x="7076" y="3830"/>
                  </a:lnTo>
                  <a:lnTo>
                    <a:pt x="6058" y="3830"/>
                  </a:lnTo>
                  <a:lnTo>
                    <a:pt x="6058" y="1697"/>
                  </a:lnTo>
                  <a:close/>
                  <a:moveTo>
                    <a:pt x="1503" y="1"/>
                  </a:moveTo>
                  <a:lnTo>
                    <a:pt x="1309" y="49"/>
                  </a:lnTo>
                  <a:lnTo>
                    <a:pt x="1163" y="146"/>
                  </a:lnTo>
                  <a:lnTo>
                    <a:pt x="1018" y="340"/>
                  </a:lnTo>
                  <a:lnTo>
                    <a:pt x="969" y="534"/>
                  </a:lnTo>
                  <a:lnTo>
                    <a:pt x="969" y="3830"/>
                  </a:lnTo>
                  <a:lnTo>
                    <a:pt x="533" y="3830"/>
                  </a:lnTo>
                  <a:lnTo>
                    <a:pt x="339" y="3878"/>
                  </a:lnTo>
                  <a:lnTo>
                    <a:pt x="146" y="3975"/>
                  </a:lnTo>
                  <a:lnTo>
                    <a:pt x="49" y="4169"/>
                  </a:lnTo>
                  <a:lnTo>
                    <a:pt x="0" y="4363"/>
                  </a:lnTo>
                  <a:lnTo>
                    <a:pt x="49" y="4557"/>
                  </a:lnTo>
                  <a:lnTo>
                    <a:pt x="146" y="4702"/>
                  </a:lnTo>
                  <a:lnTo>
                    <a:pt x="339" y="4847"/>
                  </a:lnTo>
                  <a:lnTo>
                    <a:pt x="8821" y="4847"/>
                  </a:lnTo>
                  <a:lnTo>
                    <a:pt x="8966" y="4702"/>
                  </a:lnTo>
                  <a:lnTo>
                    <a:pt x="9063" y="4557"/>
                  </a:lnTo>
                  <a:lnTo>
                    <a:pt x="9112" y="4363"/>
                  </a:lnTo>
                  <a:lnTo>
                    <a:pt x="9063" y="4169"/>
                  </a:lnTo>
                  <a:lnTo>
                    <a:pt x="8966" y="3975"/>
                  </a:lnTo>
                  <a:lnTo>
                    <a:pt x="8821" y="3878"/>
                  </a:lnTo>
                  <a:lnTo>
                    <a:pt x="8627" y="3830"/>
                  </a:lnTo>
                  <a:lnTo>
                    <a:pt x="8094" y="3830"/>
                  </a:lnTo>
                  <a:lnTo>
                    <a:pt x="8094" y="1212"/>
                  </a:lnTo>
                  <a:lnTo>
                    <a:pt x="8045" y="1019"/>
                  </a:lnTo>
                  <a:lnTo>
                    <a:pt x="7948" y="825"/>
                  </a:lnTo>
                  <a:lnTo>
                    <a:pt x="7803" y="728"/>
                  </a:lnTo>
                  <a:lnTo>
                    <a:pt x="7609" y="679"/>
                  </a:lnTo>
                  <a:lnTo>
                    <a:pt x="5574" y="679"/>
                  </a:lnTo>
                  <a:lnTo>
                    <a:pt x="5380" y="728"/>
                  </a:lnTo>
                  <a:lnTo>
                    <a:pt x="5186" y="825"/>
                  </a:lnTo>
                  <a:lnTo>
                    <a:pt x="5089" y="1019"/>
                  </a:lnTo>
                  <a:lnTo>
                    <a:pt x="5041" y="1212"/>
                  </a:lnTo>
                  <a:lnTo>
                    <a:pt x="5041" y="1843"/>
                  </a:lnTo>
                  <a:lnTo>
                    <a:pt x="4023" y="1843"/>
                  </a:lnTo>
                  <a:lnTo>
                    <a:pt x="4023" y="534"/>
                  </a:lnTo>
                  <a:lnTo>
                    <a:pt x="3974" y="340"/>
                  </a:lnTo>
                  <a:lnTo>
                    <a:pt x="3877" y="146"/>
                  </a:lnTo>
                  <a:lnTo>
                    <a:pt x="3732" y="49"/>
                  </a:lnTo>
                  <a:lnTo>
                    <a:pt x="35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43"/>
            <p:cNvSpPr/>
            <p:nvPr/>
          </p:nvSpPr>
          <p:spPr>
            <a:xfrm>
              <a:off x="1343025" y="1333902"/>
              <a:ext cx="320943" cy="392133"/>
            </a:xfrm>
            <a:custGeom>
              <a:avLst/>
              <a:gdLst/>
              <a:ahLst/>
              <a:cxnLst/>
              <a:rect l="l" t="t" r="r" b="b"/>
              <a:pathLst>
                <a:path w="14201" h="17351" extrusionOk="0">
                  <a:moveTo>
                    <a:pt x="11680" y="1745"/>
                  </a:moveTo>
                  <a:lnTo>
                    <a:pt x="12456" y="2521"/>
                  </a:lnTo>
                  <a:lnTo>
                    <a:pt x="11680" y="2521"/>
                  </a:lnTo>
                  <a:lnTo>
                    <a:pt x="11680" y="1745"/>
                  </a:lnTo>
                  <a:close/>
                  <a:moveTo>
                    <a:pt x="10662" y="1018"/>
                  </a:moveTo>
                  <a:lnTo>
                    <a:pt x="10662" y="3054"/>
                  </a:lnTo>
                  <a:lnTo>
                    <a:pt x="10711" y="3248"/>
                  </a:lnTo>
                  <a:lnTo>
                    <a:pt x="10808" y="3393"/>
                  </a:lnTo>
                  <a:lnTo>
                    <a:pt x="10953" y="3490"/>
                  </a:lnTo>
                  <a:lnTo>
                    <a:pt x="11147" y="3538"/>
                  </a:lnTo>
                  <a:lnTo>
                    <a:pt x="13182" y="3538"/>
                  </a:lnTo>
                  <a:lnTo>
                    <a:pt x="13182" y="16333"/>
                  </a:lnTo>
                  <a:lnTo>
                    <a:pt x="1018" y="16333"/>
                  </a:lnTo>
                  <a:lnTo>
                    <a:pt x="1018" y="1018"/>
                  </a:lnTo>
                  <a:close/>
                  <a:moveTo>
                    <a:pt x="485" y="0"/>
                  </a:moveTo>
                  <a:lnTo>
                    <a:pt x="291" y="49"/>
                  </a:lnTo>
                  <a:lnTo>
                    <a:pt x="145" y="194"/>
                  </a:lnTo>
                  <a:lnTo>
                    <a:pt x="48" y="340"/>
                  </a:lnTo>
                  <a:lnTo>
                    <a:pt x="0" y="534"/>
                  </a:lnTo>
                  <a:lnTo>
                    <a:pt x="0" y="16866"/>
                  </a:lnTo>
                  <a:lnTo>
                    <a:pt x="48" y="17060"/>
                  </a:lnTo>
                  <a:lnTo>
                    <a:pt x="145" y="17205"/>
                  </a:lnTo>
                  <a:lnTo>
                    <a:pt x="291" y="17302"/>
                  </a:lnTo>
                  <a:lnTo>
                    <a:pt x="485" y="17351"/>
                  </a:lnTo>
                  <a:lnTo>
                    <a:pt x="13667" y="17351"/>
                  </a:lnTo>
                  <a:lnTo>
                    <a:pt x="13861" y="17302"/>
                  </a:lnTo>
                  <a:lnTo>
                    <a:pt x="14006" y="17205"/>
                  </a:lnTo>
                  <a:lnTo>
                    <a:pt x="14152" y="17060"/>
                  </a:lnTo>
                  <a:lnTo>
                    <a:pt x="14200" y="16866"/>
                  </a:lnTo>
                  <a:lnTo>
                    <a:pt x="14200" y="3054"/>
                  </a:lnTo>
                  <a:lnTo>
                    <a:pt x="14200" y="3005"/>
                  </a:lnTo>
                  <a:lnTo>
                    <a:pt x="14152" y="2811"/>
                  </a:lnTo>
                  <a:lnTo>
                    <a:pt x="14006" y="2666"/>
                  </a:lnTo>
                  <a:lnTo>
                    <a:pt x="11535" y="194"/>
                  </a:lnTo>
                  <a:lnTo>
                    <a:pt x="11389" y="49"/>
                  </a:lnTo>
                  <a:lnTo>
                    <a:pt x="111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6" name="Google Shape;496;p43"/>
          <p:cNvGrpSpPr/>
          <p:nvPr/>
        </p:nvGrpSpPr>
        <p:grpSpPr>
          <a:xfrm>
            <a:off x="6047021" y="1788585"/>
            <a:ext cx="392155" cy="392133"/>
            <a:chOff x="3266375" y="1333902"/>
            <a:chExt cx="392155" cy="392133"/>
          </a:xfrm>
        </p:grpSpPr>
        <p:sp>
          <p:nvSpPr>
            <p:cNvPr id="497" name="Google Shape;497;p43"/>
            <p:cNvSpPr/>
            <p:nvPr/>
          </p:nvSpPr>
          <p:spPr>
            <a:xfrm>
              <a:off x="3266375" y="1333902"/>
              <a:ext cx="392155" cy="392133"/>
            </a:xfrm>
            <a:custGeom>
              <a:avLst/>
              <a:gdLst/>
              <a:ahLst/>
              <a:cxnLst/>
              <a:rect l="l" t="t" r="r" b="b"/>
              <a:pathLst>
                <a:path w="17352" h="17351" extrusionOk="0">
                  <a:moveTo>
                    <a:pt x="9888" y="1067"/>
                  </a:moveTo>
                  <a:lnTo>
                    <a:pt x="9888" y="6689"/>
                  </a:lnTo>
                  <a:lnTo>
                    <a:pt x="8288" y="8336"/>
                  </a:lnTo>
                  <a:lnTo>
                    <a:pt x="7804" y="8046"/>
                  </a:lnTo>
                  <a:lnTo>
                    <a:pt x="7270" y="7803"/>
                  </a:lnTo>
                  <a:lnTo>
                    <a:pt x="6737" y="7658"/>
                  </a:lnTo>
                  <a:lnTo>
                    <a:pt x="6204" y="7609"/>
                  </a:lnTo>
                  <a:lnTo>
                    <a:pt x="5768" y="7609"/>
                  </a:lnTo>
                  <a:lnTo>
                    <a:pt x="5380" y="7658"/>
                  </a:lnTo>
                  <a:lnTo>
                    <a:pt x="4993" y="7755"/>
                  </a:lnTo>
                  <a:lnTo>
                    <a:pt x="4605" y="7900"/>
                  </a:lnTo>
                  <a:lnTo>
                    <a:pt x="4508" y="7416"/>
                  </a:lnTo>
                  <a:lnTo>
                    <a:pt x="4508" y="6931"/>
                  </a:lnTo>
                  <a:lnTo>
                    <a:pt x="4508" y="6349"/>
                  </a:lnTo>
                  <a:lnTo>
                    <a:pt x="4605" y="5768"/>
                  </a:lnTo>
                  <a:lnTo>
                    <a:pt x="4750" y="5235"/>
                  </a:lnTo>
                  <a:lnTo>
                    <a:pt x="4944" y="4702"/>
                  </a:lnTo>
                  <a:lnTo>
                    <a:pt x="5186" y="4168"/>
                  </a:lnTo>
                  <a:lnTo>
                    <a:pt x="5477" y="3684"/>
                  </a:lnTo>
                  <a:lnTo>
                    <a:pt x="5816" y="3199"/>
                  </a:lnTo>
                  <a:lnTo>
                    <a:pt x="6253" y="2763"/>
                  </a:lnTo>
                  <a:lnTo>
                    <a:pt x="6592" y="2424"/>
                  </a:lnTo>
                  <a:lnTo>
                    <a:pt x="7028" y="2084"/>
                  </a:lnTo>
                  <a:lnTo>
                    <a:pt x="7464" y="1794"/>
                  </a:lnTo>
                  <a:lnTo>
                    <a:pt x="7900" y="1600"/>
                  </a:lnTo>
                  <a:lnTo>
                    <a:pt x="8385" y="1406"/>
                  </a:lnTo>
                  <a:lnTo>
                    <a:pt x="8870" y="1212"/>
                  </a:lnTo>
                  <a:lnTo>
                    <a:pt x="9354" y="1115"/>
                  </a:lnTo>
                  <a:lnTo>
                    <a:pt x="9888" y="1067"/>
                  </a:lnTo>
                  <a:close/>
                  <a:moveTo>
                    <a:pt x="16285" y="7464"/>
                  </a:moveTo>
                  <a:lnTo>
                    <a:pt x="16236" y="7997"/>
                  </a:lnTo>
                  <a:lnTo>
                    <a:pt x="16140" y="8482"/>
                  </a:lnTo>
                  <a:lnTo>
                    <a:pt x="15946" y="8966"/>
                  </a:lnTo>
                  <a:lnTo>
                    <a:pt x="15752" y="9451"/>
                  </a:lnTo>
                  <a:lnTo>
                    <a:pt x="15558" y="9887"/>
                  </a:lnTo>
                  <a:lnTo>
                    <a:pt x="15267" y="10323"/>
                  </a:lnTo>
                  <a:lnTo>
                    <a:pt x="14928" y="10760"/>
                  </a:lnTo>
                  <a:lnTo>
                    <a:pt x="14589" y="11099"/>
                  </a:lnTo>
                  <a:lnTo>
                    <a:pt x="14152" y="11535"/>
                  </a:lnTo>
                  <a:lnTo>
                    <a:pt x="13668" y="11874"/>
                  </a:lnTo>
                  <a:lnTo>
                    <a:pt x="13183" y="12165"/>
                  </a:lnTo>
                  <a:lnTo>
                    <a:pt x="12650" y="12407"/>
                  </a:lnTo>
                  <a:lnTo>
                    <a:pt x="12117" y="12601"/>
                  </a:lnTo>
                  <a:lnTo>
                    <a:pt x="11584" y="12747"/>
                  </a:lnTo>
                  <a:lnTo>
                    <a:pt x="11002" y="12844"/>
                  </a:lnTo>
                  <a:lnTo>
                    <a:pt x="9936" y="12844"/>
                  </a:lnTo>
                  <a:lnTo>
                    <a:pt x="9451" y="12747"/>
                  </a:lnTo>
                  <a:lnTo>
                    <a:pt x="9597" y="12311"/>
                  </a:lnTo>
                  <a:lnTo>
                    <a:pt x="9694" y="11826"/>
                  </a:lnTo>
                  <a:lnTo>
                    <a:pt x="9742" y="11341"/>
                  </a:lnTo>
                  <a:lnTo>
                    <a:pt x="9742" y="10857"/>
                  </a:lnTo>
                  <a:lnTo>
                    <a:pt x="9645" y="10372"/>
                  </a:lnTo>
                  <a:lnTo>
                    <a:pt x="9500" y="9887"/>
                  </a:lnTo>
                  <a:lnTo>
                    <a:pt x="9257" y="9451"/>
                  </a:lnTo>
                  <a:lnTo>
                    <a:pt x="9015" y="9063"/>
                  </a:lnTo>
                  <a:lnTo>
                    <a:pt x="10566" y="7464"/>
                  </a:lnTo>
                  <a:close/>
                  <a:moveTo>
                    <a:pt x="6301" y="8627"/>
                  </a:moveTo>
                  <a:lnTo>
                    <a:pt x="6737" y="8724"/>
                  </a:lnTo>
                  <a:lnTo>
                    <a:pt x="7173" y="8870"/>
                  </a:lnTo>
                  <a:lnTo>
                    <a:pt x="7561" y="9063"/>
                  </a:lnTo>
                  <a:lnTo>
                    <a:pt x="7949" y="9403"/>
                  </a:lnTo>
                  <a:lnTo>
                    <a:pt x="8240" y="9742"/>
                  </a:lnTo>
                  <a:lnTo>
                    <a:pt x="8482" y="10130"/>
                  </a:lnTo>
                  <a:lnTo>
                    <a:pt x="8627" y="10566"/>
                  </a:lnTo>
                  <a:lnTo>
                    <a:pt x="8724" y="11050"/>
                  </a:lnTo>
                  <a:lnTo>
                    <a:pt x="8724" y="11535"/>
                  </a:lnTo>
                  <a:lnTo>
                    <a:pt x="8627" y="11971"/>
                  </a:lnTo>
                  <a:lnTo>
                    <a:pt x="8482" y="12407"/>
                  </a:lnTo>
                  <a:lnTo>
                    <a:pt x="8240" y="12844"/>
                  </a:lnTo>
                  <a:lnTo>
                    <a:pt x="8046" y="13086"/>
                  </a:lnTo>
                  <a:lnTo>
                    <a:pt x="7804" y="13328"/>
                  </a:lnTo>
                  <a:lnTo>
                    <a:pt x="7561" y="13522"/>
                  </a:lnTo>
                  <a:lnTo>
                    <a:pt x="7319" y="13668"/>
                  </a:lnTo>
                  <a:lnTo>
                    <a:pt x="7028" y="13813"/>
                  </a:lnTo>
                  <a:lnTo>
                    <a:pt x="6689" y="13910"/>
                  </a:lnTo>
                  <a:lnTo>
                    <a:pt x="6398" y="13958"/>
                  </a:lnTo>
                  <a:lnTo>
                    <a:pt x="6059" y="13958"/>
                  </a:lnTo>
                  <a:lnTo>
                    <a:pt x="5526" y="13910"/>
                  </a:lnTo>
                  <a:lnTo>
                    <a:pt x="5041" y="13764"/>
                  </a:lnTo>
                  <a:lnTo>
                    <a:pt x="4556" y="13522"/>
                  </a:lnTo>
                  <a:lnTo>
                    <a:pt x="4169" y="13183"/>
                  </a:lnTo>
                  <a:lnTo>
                    <a:pt x="3829" y="12795"/>
                  </a:lnTo>
                  <a:lnTo>
                    <a:pt x="3587" y="12311"/>
                  </a:lnTo>
                  <a:lnTo>
                    <a:pt x="3442" y="11826"/>
                  </a:lnTo>
                  <a:lnTo>
                    <a:pt x="3393" y="11293"/>
                  </a:lnTo>
                  <a:lnTo>
                    <a:pt x="3393" y="10954"/>
                  </a:lnTo>
                  <a:lnTo>
                    <a:pt x="3442" y="10663"/>
                  </a:lnTo>
                  <a:lnTo>
                    <a:pt x="3539" y="10323"/>
                  </a:lnTo>
                  <a:lnTo>
                    <a:pt x="3684" y="10033"/>
                  </a:lnTo>
                  <a:lnTo>
                    <a:pt x="3829" y="9790"/>
                  </a:lnTo>
                  <a:lnTo>
                    <a:pt x="4023" y="9548"/>
                  </a:lnTo>
                  <a:lnTo>
                    <a:pt x="4266" y="9306"/>
                  </a:lnTo>
                  <a:lnTo>
                    <a:pt x="4508" y="9112"/>
                  </a:lnTo>
                  <a:lnTo>
                    <a:pt x="4944" y="8870"/>
                  </a:lnTo>
                  <a:lnTo>
                    <a:pt x="5380" y="8724"/>
                  </a:lnTo>
                  <a:lnTo>
                    <a:pt x="5816" y="8627"/>
                  </a:lnTo>
                  <a:close/>
                  <a:moveTo>
                    <a:pt x="3102" y="13522"/>
                  </a:moveTo>
                  <a:lnTo>
                    <a:pt x="3442" y="13910"/>
                  </a:lnTo>
                  <a:lnTo>
                    <a:pt x="3829" y="14249"/>
                  </a:lnTo>
                  <a:lnTo>
                    <a:pt x="1891" y="16188"/>
                  </a:lnTo>
                  <a:lnTo>
                    <a:pt x="1697" y="16285"/>
                  </a:lnTo>
                  <a:lnTo>
                    <a:pt x="1503" y="16333"/>
                  </a:lnTo>
                  <a:lnTo>
                    <a:pt x="1309" y="16285"/>
                  </a:lnTo>
                  <a:lnTo>
                    <a:pt x="1164" y="16188"/>
                  </a:lnTo>
                  <a:lnTo>
                    <a:pt x="1067" y="16042"/>
                  </a:lnTo>
                  <a:lnTo>
                    <a:pt x="1018" y="15848"/>
                  </a:lnTo>
                  <a:lnTo>
                    <a:pt x="1067" y="15655"/>
                  </a:lnTo>
                  <a:lnTo>
                    <a:pt x="1164" y="15461"/>
                  </a:lnTo>
                  <a:lnTo>
                    <a:pt x="3102" y="13522"/>
                  </a:lnTo>
                  <a:close/>
                  <a:moveTo>
                    <a:pt x="10372" y="0"/>
                  </a:moveTo>
                  <a:lnTo>
                    <a:pt x="9694" y="49"/>
                  </a:lnTo>
                  <a:lnTo>
                    <a:pt x="9015" y="146"/>
                  </a:lnTo>
                  <a:lnTo>
                    <a:pt x="8385" y="291"/>
                  </a:lnTo>
                  <a:lnTo>
                    <a:pt x="7755" y="534"/>
                  </a:lnTo>
                  <a:lnTo>
                    <a:pt x="7125" y="824"/>
                  </a:lnTo>
                  <a:lnTo>
                    <a:pt x="6543" y="1164"/>
                  </a:lnTo>
                  <a:lnTo>
                    <a:pt x="6010" y="1600"/>
                  </a:lnTo>
                  <a:lnTo>
                    <a:pt x="5526" y="2036"/>
                  </a:lnTo>
                  <a:lnTo>
                    <a:pt x="5041" y="2569"/>
                  </a:lnTo>
                  <a:lnTo>
                    <a:pt x="4653" y="3102"/>
                  </a:lnTo>
                  <a:lnTo>
                    <a:pt x="4314" y="3684"/>
                  </a:lnTo>
                  <a:lnTo>
                    <a:pt x="4023" y="4314"/>
                  </a:lnTo>
                  <a:lnTo>
                    <a:pt x="3781" y="4944"/>
                  </a:lnTo>
                  <a:lnTo>
                    <a:pt x="3636" y="5574"/>
                  </a:lnTo>
                  <a:lnTo>
                    <a:pt x="3539" y="6252"/>
                  </a:lnTo>
                  <a:lnTo>
                    <a:pt x="3490" y="6931"/>
                  </a:lnTo>
                  <a:lnTo>
                    <a:pt x="3539" y="7706"/>
                  </a:lnTo>
                  <a:lnTo>
                    <a:pt x="3684" y="8482"/>
                  </a:lnTo>
                  <a:lnTo>
                    <a:pt x="3393" y="8773"/>
                  </a:lnTo>
                  <a:lnTo>
                    <a:pt x="3102" y="9063"/>
                  </a:lnTo>
                  <a:lnTo>
                    <a:pt x="2909" y="9403"/>
                  </a:lnTo>
                  <a:lnTo>
                    <a:pt x="2715" y="9742"/>
                  </a:lnTo>
                  <a:lnTo>
                    <a:pt x="2569" y="10130"/>
                  </a:lnTo>
                  <a:lnTo>
                    <a:pt x="2472" y="10517"/>
                  </a:lnTo>
                  <a:lnTo>
                    <a:pt x="2375" y="10905"/>
                  </a:lnTo>
                  <a:lnTo>
                    <a:pt x="2375" y="11293"/>
                  </a:lnTo>
                  <a:lnTo>
                    <a:pt x="2375" y="11632"/>
                  </a:lnTo>
                  <a:lnTo>
                    <a:pt x="2424" y="11971"/>
                  </a:lnTo>
                  <a:lnTo>
                    <a:pt x="2521" y="12262"/>
                  </a:lnTo>
                  <a:lnTo>
                    <a:pt x="2618" y="12601"/>
                  </a:lnTo>
                  <a:lnTo>
                    <a:pt x="437" y="14734"/>
                  </a:lnTo>
                  <a:lnTo>
                    <a:pt x="243" y="14976"/>
                  </a:lnTo>
                  <a:lnTo>
                    <a:pt x="98" y="15267"/>
                  </a:lnTo>
                  <a:lnTo>
                    <a:pt x="49" y="15558"/>
                  </a:lnTo>
                  <a:lnTo>
                    <a:pt x="1" y="15848"/>
                  </a:lnTo>
                  <a:lnTo>
                    <a:pt x="49" y="16139"/>
                  </a:lnTo>
                  <a:lnTo>
                    <a:pt x="98" y="16382"/>
                  </a:lnTo>
                  <a:lnTo>
                    <a:pt x="243" y="16672"/>
                  </a:lnTo>
                  <a:lnTo>
                    <a:pt x="437" y="16915"/>
                  </a:lnTo>
                  <a:lnTo>
                    <a:pt x="679" y="17109"/>
                  </a:lnTo>
                  <a:lnTo>
                    <a:pt x="970" y="17254"/>
                  </a:lnTo>
                  <a:lnTo>
                    <a:pt x="1212" y="17302"/>
                  </a:lnTo>
                  <a:lnTo>
                    <a:pt x="1503" y="17351"/>
                  </a:lnTo>
                  <a:lnTo>
                    <a:pt x="1794" y="17302"/>
                  </a:lnTo>
                  <a:lnTo>
                    <a:pt x="2085" y="17254"/>
                  </a:lnTo>
                  <a:lnTo>
                    <a:pt x="2375" y="17109"/>
                  </a:lnTo>
                  <a:lnTo>
                    <a:pt x="2618" y="16915"/>
                  </a:lnTo>
                  <a:lnTo>
                    <a:pt x="4750" y="14734"/>
                  </a:lnTo>
                  <a:lnTo>
                    <a:pt x="5089" y="14831"/>
                  </a:lnTo>
                  <a:lnTo>
                    <a:pt x="5380" y="14928"/>
                  </a:lnTo>
                  <a:lnTo>
                    <a:pt x="5720" y="14976"/>
                  </a:lnTo>
                  <a:lnTo>
                    <a:pt x="6447" y="14976"/>
                  </a:lnTo>
                  <a:lnTo>
                    <a:pt x="6834" y="14879"/>
                  </a:lnTo>
                  <a:lnTo>
                    <a:pt x="7222" y="14782"/>
                  </a:lnTo>
                  <a:lnTo>
                    <a:pt x="7610" y="14637"/>
                  </a:lnTo>
                  <a:lnTo>
                    <a:pt x="7949" y="14443"/>
                  </a:lnTo>
                  <a:lnTo>
                    <a:pt x="8288" y="14249"/>
                  </a:lnTo>
                  <a:lnTo>
                    <a:pt x="8579" y="13958"/>
                  </a:lnTo>
                  <a:lnTo>
                    <a:pt x="8870" y="13668"/>
                  </a:lnTo>
                  <a:lnTo>
                    <a:pt x="9645" y="13813"/>
                  </a:lnTo>
                  <a:lnTo>
                    <a:pt x="10421" y="13861"/>
                  </a:lnTo>
                  <a:lnTo>
                    <a:pt x="11099" y="13813"/>
                  </a:lnTo>
                  <a:lnTo>
                    <a:pt x="11778" y="13716"/>
                  </a:lnTo>
                  <a:lnTo>
                    <a:pt x="12408" y="13571"/>
                  </a:lnTo>
                  <a:lnTo>
                    <a:pt x="13038" y="13328"/>
                  </a:lnTo>
                  <a:lnTo>
                    <a:pt x="13668" y="13037"/>
                  </a:lnTo>
                  <a:lnTo>
                    <a:pt x="14249" y="12698"/>
                  </a:lnTo>
                  <a:lnTo>
                    <a:pt x="14782" y="12311"/>
                  </a:lnTo>
                  <a:lnTo>
                    <a:pt x="15316" y="11826"/>
                  </a:lnTo>
                  <a:lnTo>
                    <a:pt x="15752" y="11341"/>
                  </a:lnTo>
                  <a:lnTo>
                    <a:pt x="16188" y="10808"/>
                  </a:lnTo>
                  <a:lnTo>
                    <a:pt x="16527" y="10227"/>
                  </a:lnTo>
                  <a:lnTo>
                    <a:pt x="16818" y="9596"/>
                  </a:lnTo>
                  <a:lnTo>
                    <a:pt x="17060" y="8966"/>
                  </a:lnTo>
                  <a:lnTo>
                    <a:pt x="17206" y="8336"/>
                  </a:lnTo>
                  <a:lnTo>
                    <a:pt x="17303" y="7658"/>
                  </a:lnTo>
                  <a:lnTo>
                    <a:pt x="17351" y="6979"/>
                  </a:lnTo>
                  <a:lnTo>
                    <a:pt x="17303" y="6786"/>
                  </a:lnTo>
                  <a:lnTo>
                    <a:pt x="17206" y="6592"/>
                  </a:lnTo>
                  <a:lnTo>
                    <a:pt x="17012" y="6495"/>
                  </a:lnTo>
                  <a:lnTo>
                    <a:pt x="16818" y="6446"/>
                  </a:lnTo>
                  <a:lnTo>
                    <a:pt x="10905" y="6446"/>
                  </a:lnTo>
                  <a:lnTo>
                    <a:pt x="10905" y="534"/>
                  </a:lnTo>
                  <a:lnTo>
                    <a:pt x="10857" y="340"/>
                  </a:lnTo>
                  <a:lnTo>
                    <a:pt x="10760" y="146"/>
                  </a:lnTo>
                  <a:lnTo>
                    <a:pt x="10614" y="49"/>
                  </a:lnTo>
                  <a:lnTo>
                    <a:pt x="103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43"/>
            <p:cNvSpPr/>
            <p:nvPr/>
          </p:nvSpPr>
          <p:spPr>
            <a:xfrm>
              <a:off x="3536920" y="1333902"/>
              <a:ext cx="121611" cy="121611"/>
            </a:xfrm>
            <a:custGeom>
              <a:avLst/>
              <a:gdLst/>
              <a:ahLst/>
              <a:cxnLst/>
              <a:rect l="l" t="t" r="r" b="b"/>
              <a:pathLst>
                <a:path w="5381" h="5381" extrusionOk="0">
                  <a:moveTo>
                    <a:pt x="1018" y="1067"/>
                  </a:moveTo>
                  <a:lnTo>
                    <a:pt x="1648" y="1212"/>
                  </a:lnTo>
                  <a:lnTo>
                    <a:pt x="2230" y="1454"/>
                  </a:lnTo>
                  <a:lnTo>
                    <a:pt x="2763" y="1745"/>
                  </a:lnTo>
                  <a:lnTo>
                    <a:pt x="3199" y="2181"/>
                  </a:lnTo>
                  <a:lnTo>
                    <a:pt x="3635" y="2618"/>
                  </a:lnTo>
                  <a:lnTo>
                    <a:pt x="3926" y="3151"/>
                  </a:lnTo>
                  <a:lnTo>
                    <a:pt x="4169" y="3732"/>
                  </a:lnTo>
                  <a:lnTo>
                    <a:pt x="4314" y="4362"/>
                  </a:lnTo>
                  <a:lnTo>
                    <a:pt x="1018" y="4362"/>
                  </a:lnTo>
                  <a:lnTo>
                    <a:pt x="1018" y="1067"/>
                  </a:lnTo>
                  <a:close/>
                  <a:moveTo>
                    <a:pt x="485" y="0"/>
                  </a:moveTo>
                  <a:lnTo>
                    <a:pt x="291" y="49"/>
                  </a:lnTo>
                  <a:lnTo>
                    <a:pt x="146" y="146"/>
                  </a:lnTo>
                  <a:lnTo>
                    <a:pt x="1" y="340"/>
                  </a:lnTo>
                  <a:lnTo>
                    <a:pt x="1" y="534"/>
                  </a:lnTo>
                  <a:lnTo>
                    <a:pt x="1" y="4895"/>
                  </a:lnTo>
                  <a:lnTo>
                    <a:pt x="1" y="5089"/>
                  </a:lnTo>
                  <a:lnTo>
                    <a:pt x="146" y="5235"/>
                  </a:lnTo>
                  <a:lnTo>
                    <a:pt x="291" y="5380"/>
                  </a:lnTo>
                  <a:lnTo>
                    <a:pt x="5041" y="5380"/>
                  </a:lnTo>
                  <a:lnTo>
                    <a:pt x="5235" y="5235"/>
                  </a:lnTo>
                  <a:lnTo>
                    <a:pt x="5332" y="5089"/>
                  </a:lnTo>
                  <a:lnTo>
                    <a:pt x="5380" y="4895"/>
                  </a:lnTo>
                  <a:lnTo>
                    <a:pt x="5332" y="4411"/>
                  </a:lnTo>
                  <a:lnTo>
                    <a:pt x="5283" y="3926"/>
                  </a:lnTo>
                  <a:lnTo>
                    <a:pt x="5138" y="3441"/>
                  </a:lnTo>
                  <a:lnTo>
                    <a:pt x="4992" y="3005"/>
                  </a:lnTo>
                  <a:lnTo>
                    <a:pt x="4799" y="2569"/>
                  </a:lnTo>
                  <a:lnTo>
                    <a:pt x="4556" y="2181"/>
                  </a:lnTo>
                  <a:lnTo>
                    <a:pt x="4265" y="1794"/>
                  </a:lnTo>
                  <a:lnTo>
                    <a:pt x="3926" y="1454"/>
                  </a:lnTo>
                  <a:lnTo>
                    <a:pt x="3587" y="1115"/>
                  </a:lnTo>
                  <a:lnTo>
                    <a:pt x="3199" y="824"/>
                  </a:lnTo>
                  <a:lnTo>
                    <a:pt x="2811" y="582"/>
                  </a:lnTo>
                  <a:lnTo>
                    <a:pt x="2375" y="388"/>
                  </a:lnTo>
                  <a:lnTo>
                    <a:pt x="1939" y="243"/>
                  </a:lnTo>
                  <a:lnTo>
                    <a:pt x="1454" y="97"/>
                  </a:lnTo>
                  <a:lnTo>
                    <a:pt x="970" y="49"/>
                  </a:lnTo>
                  <a:lnTo>
                    <a:pt x="4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Kép 2" descr="A képen szöveg, képernyőkép, Betűtípus, szá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0F3636CA-35E2-9948-113F-D8FFFC281B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20" b="2417"/>
          <a:stretch>
            <a:fillRect/>
          </a:stretch>
        </p:blipFill>
        <p:spPr>
          <a:xfrm>
            <a:off x="1644148" y="1017725"/>
            <a:ext cx="5855703" cy="37885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800" dirty="0"/>
              <a:t>Results of the Random Forest Regression</a:t>
            </a:r>
            <a:endParaRPr sz="2800" dirty="0"/>
          </a:p>
        </p:txBody>
      </p:sp>
      <p:sp>
        <p:nvSpPr>
          <p:cNvPr id="506" name="Google Shape;506;p44"/>
          <p:cNvSpPr txBox="1">
            <a:spLocks noGrp="1"/>
          </p:cNvSpPr>
          <p:nvPr>
            <p:ph type="subTitle" idx="3"/>
          </p:nvPr>
        </p:nvSpPr>
        <p:spPr>
          <a:xfrm>
            <a:off x="5766544" y="1869220"/>
            <a:ext cx="3065222" cy="17437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The Random Forest regressor is configured with </a:t>
            </a:r>
            <a:r>
              <a:rPr lang="en-US" b="1" dirty="0"/>
              <a:t>300 fully grown trees</a:t>
            </a:r>
            <a:r>
              <a:rPr lang="en-US" dirty="0"/>
              <a:t>, using </a:t>
            </a:r>
            <a:r>
              <a:rPr lang="en-US" b="1" dirty="0"/>
              <a:t>bootstrap sampling</a:t>
            </a:r>
            <a:r>
              <a:rPr lang="en-US" dirty="0"/>
              <a:t> and the </a:t>
            </a:r>
            <a:r>
              <a:rPr lang="en-US" b="1" dirty="0"/>
              <a:t>square-root feature selection</a:t>
            </a:r>
            <a:r>
              <a:rPr lang="en-US" dirty="0"/>
              <a:t> rule to increase model diversity.</a:t>
            </a:r>
            <a:endParaRPr dirty="0"/>
          </a:p>
        </p:txBody>
      </p:sp>
      <p:pic>
        <p:nvPicPr>
          <p:cNvPr id="7" name="Kép 6" descr="A képen szöveg, képernyőkép, sor, diagra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F2A82058-E694-2247-30AC-3C67C930A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353" y="1017725"/>
            <a:ext cx="4709191" cy="37549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52"/>
          <p:cNvSpPr/>
          <p:nvPr/>
        </p:nvSpPr>
        <p:spPr>
          <a:xfrm>
            <a:off x="2757270" y="2876959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52"/>
          <p:cNvSpPr txBox="1">
            <a:spLocks noGrp="1"/>
          </p:cNvSpPr>
          <p:nvPr>
            <p:ph type="title"/>
          </p:nvPr>
        </p:nvSpPr>
        <p:spPr>
          <a:xfrm>
            <a:off x="4351975" y="312234"/>
            <a:ext cx="4078800" cy="58960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800" dirty="0"/>
              <a:t>Key Metrics</a:t>
            </a:r>
            <a:endParaRPr sz="2800" dirty="0"/>
          </a:p>
        </p:txBody>
      </p:sp>
      <p:sp>
        <p:nvSpPr>
          <p:cNvPr id="700" name="Google Shape;700;p52"/>
          <p:cNvSpPr txBox="1">
            <a:spLocks noGrp="1"/>
          </p:cNvSpPr>
          <p:nvPr>
            <p:ph type="subTitle" idx="3"/>
          </p:nvPr>
        </p:nvSpPr>
        <p:spPr>
          <a:xfrm>
            <a:off x="4351975" y="780586"/>
            <a:ext cx="4078800" cy="22231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MAE:</a:t>
            </a:r>
            <a:r>
              <a:rPr lang="en-US" dirty="0"/>
              <a:t> 7.70</a:t>
            </a:r>
            <a:br>
              <a:rPr lang="en-US" dirty="0"/>
            </a:br>
            <a:r>
              <a:rPr lang="en-US" dirty="0"/>
              <a:t>→ The model is off by ~7–8 grade points on average.</a:t>
            </a:r>
          </a:p>
          <a:p>
            <a:r>
              <a:rPr lang="en-US" b="1" dirty="0"/>
              <a:t>R²:</a:t>
            </a:r>
            <a:r>
              <a:rPr lang="en-US" dirty="0"/>
              <a:t> –0.11</a:t>
            </a:r>
            <a:br>
              <a:rPr lang="en-US" dirty="0"/>
            </a:br>
            <a:r>
              <a:rPr lang="en-US" dirty="0"/>
              <a:t>→ Worse than predicting the mean; the model captures </a:t>
            </a:r>
            <a:r>
              <a:rPr lang="en-US" b="1" dirty="0"/>
              <a:t>no meaningful pattern</a:t>
            </a:r>
            <a:r>
              <a:rPr lang="en-US" dirty="0"/>
              <a:t>.</a:t>
            </a:r>
            <a:endParaRPr lang="en-US" b="1" dirty="0"/>
          </a:p>
        </p:txBody>
      </p:sp>
      <p:sp>
        <p:nvSpPr>
          <p:cNvPr id="701" name="Google Shape;701;p52"/>
          <p:cNvSpPr txBox="1">
            <a:spLocks noGrp="1"/>
          </p:cNvSpPr>
          <p:nvPr>
            <p:ph type="title" idx="4"/>
          </p:nvPr>
        </p:nvSpPr>
        <p:spPr>
          <a:xfrm>
            <a:off x="4422687" y="3183399"/>
            <a:ext cx="4078800" cy="6687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800" dirty="0"/>
              <a:t>Prediction Behavior</a:t>
            </a:r>
          </a:p>
        </p:txBody>
      </p:sp>
      <p:sp>
        <p:nvSpPr>
          <p:cNvPr id="702" name="Google Shape;702;p52"/>
          <p:cNvSpPr txBox="1">
            <a:spLocks noGrp="1"/>
          </p:cNvSpPr>
          <p:nvPr>
            <p:ph type="subTitle" idx="5"/>
          </p:nvPr>
        </p:nvSpPr>
        <p:spPr>
          <a:xfrm>
            <a:off x="4508092" y="4031798"/>
            <a:ext cx="4078800" cy="7994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Actual mean grade:</a:t>
            </a:r>
            <a:r>
              <a:rPr lang="en-US" dirty="0"/>
              <a:t> 79.92</a:t>
            </a:r>
          </a:p>
          <a:p>
            <a:r>
              <a:rPr lang="en-US" b="1" dirty="0"/>
              <a:t>Predicted mean grade:</a:t>
            </a:r>
            <a:r>
              <a:rPr lang="en-US" dirty="0"/>
              <a:t> 79.95</a:t>
            </a:r>
          </a:p>
        </p:txBody>
      </p:sp>
      <p:grpSp>
        <p:nvGrpSpPr>
          <p:cNvPr id="703" name="Google Shape;703;p52"/>
          <p:cNvGrpSpPr/>
          <p:nvPr/>
        </p:nvGrpSpPr>
        <p:grpSpPr>
          <a:xfrm>
            <a:off x="-130025" y="-312465"/>
            <a:ext cx="3330702" cy="5732675"/>
            <a:chOff x="-130025" y="-312465"/>
            <a:chExt cx="3330702" cy="5732675"/>
          </a:xfrm>
        </p:grpSpPr>
        <p:sp>
          <p:nvSpPr>
            <p:cNvPr id="704" name="Google Shape;704;p52"/>
            <p:cNvSpPr/>
            <p:nvPr/>
          </p:nvSpPr>
          <p:spPr>
            <a:xfrm>
              <a:off x="1575672" y="423331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52"/>
            <p:cNvSpPr/>
            <p:nvPr/>
          </p:nvSpPr>
          <p:spPr>
            <a:xfrm>
              <a:off x="1955986" y="23050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52"/>
            <p:cNvSpPr/>
            <p:nvPr/>
          </p:nvSpPr>
          <p:spPr>
            <a:xfrm>
              <a:off x="173058" y="138338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52"/>
            <p:cNvSpPr/>
            <p:nvPr/>
          </p:nvSpPr>
          <p:spPr>
            <a:xfrm>
              <a:off x="-96967" y="90184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52"/>
            <p:cNvSpPr/>
            <p:nvPr/>
          </p:nvSpPr>
          <p:spPr>
            <a:xfrm>
              <a:off x="1575664" y="10205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52"/>
            <p:cNvSpPr/>
            <p:nvPr/>
          </p:nvSpPr>
          <p:spPr>
            <a:xfrm>
              <a:off x="2361967" y="283544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52"/>
            <p:cNvSpPr/>
            <p:nvPr/>
          </p:nvSpPr>
          <p:spPr>
            <a:xfrm>
              <a:off x="1144579" y="151473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52"/>
            <p:cNvSpPr/>
            <p:nvPr/>
          </p:nvSpPr>
          <p:spPr>
            <a:xfrm rot="10800000" flipH="1">
              <a:off x="618137" y="247490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52"/>
            <p:cNvSpPr/>
            <p:nvPr/>
          </p:nvSpPr>
          <p:spPr>
            <a:xfrm rot="10800000" flipH="1">
              <a:off x="869355" y="349933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52"/>
            <p:cNvSpPr/>
            <p:nvPr/>
          </p:nvSpPr>
          <p:spPr>
            <a:xfrm rot="10800000" flipH="1">
              <a:off x="1396209" y="-31246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52"/>
            <p:cNvSpPr/>
            <p:nvPr/>
          </p:nvSpPr>
          <p:spPr>
            <a:xfrm rot="10800000" flipH="1">
              <a:off x="301247" y="30080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52"/>
            <p:cNvSpPr/>
            <p:nvPr/>
          </p:nvSpPr>
          <p:spPr>
            <a:xfrm rot="10800000" flipH="1">
              <a:off x="1011780" y="16415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52"/>
            <p:cNvSpPr/>
            <p:nvPr/>
          </p:nvSpPr>
          <p:spPr>
            <a:xfrm rot="10800000" flipH="1">
              <a:off x="-130025" y="40479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52"/>
            <p:cNvSpPr/>
            <p:nvPr/>
          </p:nvSpPr>
          <p:spPr>
            <a:xfrm rot="10800000" flipH="1">
              <a:off x="1994793" y="374927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52"/>
            <p:cNvSpPr/>
            <p:nvPr/>
          </p:nvSpPr>
          <p:spPr>
            <a:xfrm rot="10800000" flipH="1">
              <a:off x="2150368" y="86088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52"/>
            <p:cNvSpPr/>
            <p:nvPr/>
          </p:nvSpPr>
          <p:spPr>
            <a:xfrm>
              <a:off x="236023" y="44520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szöveg, képernyőkép, diagram, Diagra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0D87C08A-7204-DC6B-A220-DC76D9504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033" y="908340"/>
            <a:ext cx="4174978" cy="3326820"/>
          </a:xfrm>
          <a:prstGeom prst="rect">
            <a:avLst/>
          </a:prstGeom>
        </p:spPr>
      </p:pic>
      <p:pic>
        <p:nvPicPr>
          <p:cNvPr id="5" name="Kép 4" descr="A képen szöveg, diagram, sor, Diagra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14695E00-6743-5CD3-002F-25BF353E31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908340"/>
            <a:ext cx="4211535" cy="33268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70"/>
          <p:cNvSpPr txBox="1">
            <a:spLocks noGrp="1"/>
          </p:cNvSpPr>
          <p:nvPr>
            <p:ph type="title"/>
          </p:nvPr>
        </p:nvSpPr>
        <p:spPr>
          <a:xfrm>
            <a:off x="713225" y="677525"/>
            <a:ext cx="50946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079" name="Google Shape;1079;p70"/>
          <p:cNvSpPr txBox="1">
            <a:spLocks noGrp="1"/>
          </p:cNvSpPr>
          <p:nvPr>
            <p:ph type="subTitle" idx="1"/>
          </p:nvPr>
        </p:nvSpPr>
        <p:spPr>
          <a:xfrm>
            <a:off x="713225" y="1841450"/>
            <a:ext cx="5094600" cy="79767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DM Sans Medium"/>
                <a:ea typeface="DM Sans Medium"/>
                <a:cs typeface="DM Sans Medium"/>
                <a:sym typeface="DM Sans Medium"/>
              </a:rPr>
              <a:t>Do you have any questions?</a:t>
            </a:r>
            <a:endParaRPr sz="2000" dirty="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1" name="Google Shape;1081;p70"/>
          <p:cNvSpPr/>
          <p:nvPr/>
        </p:nvSpPr>
        <p:spPr>
          <a:xfrm rot="10800000" flipH="1">
            <a:off x="7185836" y="1838235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dk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2" name="Google Shape;1082;p70"/>
          <p:cNvSpPr/>
          <p:nvPr/>
        </p:nvSpPr>
        <p:spPr>
          <a:xfrm rot="10800000" flipH="1">
            <a:off x="7137014" y="4538985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3" name="Google Shape;1083;p70"/>
          <p:cNvSpPr/>
          <p:nvPr/>
        </p:nvSpPr>
        <p:spPr>
          <a:xfrm rot="10800000" flipH="1">
            <a:off x="6717609" y="4067147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14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4" name="Google Shape;1084;p70"/>
          <p:cNvSpPr/>
          <p:nvPr/>
        </p:nvSpPr>
        <p:spPr>
          <a:xfrm rot="10800000" flipH="1">
            <a:off x="6249883" y="3014741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dk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5" name="Google Shape;1085;p70"/>
          <p:cNvSpPr/>
          <p:nvPr/>
        </p:nvSpPr>
        <p:spPr>
          <a:xfrm rot="10800000" flipH="1">
            <a:off x="5843383" y="3511084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AFC7FF">
              <a:alpha val="2500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6" name="Google Shape;1086;p70"/>
          <p:cNvSpPr/>
          <p:nvPr/>
        </p:nvSpPr>
        <p:spPr>
          <a:xfrm rot="10800000" flipH="1">
            <a:off x="7591814" y="339567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7" name="Google Shape;1087;p70"/>
          <p:cNvSpPr/>
          <p:nvPr/>
        </p:nvSpPr>
        <p:spPr>
          <a:xfrm rot="10800000" flipH="1">
            <a:off x="7185829" y="2310556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14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8" name="Google Shape;1088;p70"/>
          <p:cNvSpPr/>
          <p:nvPr/>
        </p:nvSpPr>
        <p:spPr>
          <a:xfrm rot="10800000" flipH="1">
            <a:off x="8073366" y="2981536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18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9" name="Google Shape;1089;p70"/>
          <p:cNvSpPr/>
          <p:nvPr/>
        </p:nvSpPr>
        <p:spPr>
          <a:xfrm>
            <a:off x="6147012" y="1260634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0" name="Google Shape;1090;p70"/>
          <p:cNvSpPr/>
          <p:nvPr/>
        </p:nvSpPr>
        <p:spPr>
          <a:xfrm>
            <a:off x="6466130" y="283525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dk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1" name="Google Shape;1091;p70"/>
          <p:cNvSpPr/>
          <p:nvPr/>
        </p:nvSpPr>
        <p:spPr>
          <a:xfrm>
            <a:off x="5843384" y="-493472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2" name="Google Shape;1092;p70"/>
          <p:cNvSpPr/>
          <p:nvPr/>
        </p:nvSpPr>
        <p:spPr>
          <a:xfrm>
            <a:off x="6794122" y="870123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AFC7FF">
              <a:alpha val="2500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3" name="Google Shape;1093;p70"/>
          <p:cNvSpPr/>
          <p:nvPr/>
        </p:nvSpPr>
        <p:spPr>
          <a:xfrm>
            <a:off x="5215805" y="-48912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18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4" name="Google Shape;1094;p70"/>
          <p:cNvSpPr/>
          <p:nvPr/>
        </p:nvSpPr>
        <p:spPr>
          <a:xfrm rot="10800000" flipH="1">
            <a:off x="8595683" y="1947500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5" name="Google Shape;1095;p70"/>
          <p:cNvSpPr/>
          <p:nvPr/>
        </p:nvSpPr>
        <p:spPr>
          <a:xfrm rot="10800000" flipH="1">
            <a:off x="8149185" y="1464325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14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6" name="Google Shape;1096;p70"/>
          <p:cNvSpPr/>
          <p:nvPr/>
        </p:nvSpPr>
        <p:spPr>
          <a:xfrm>
            <a:off x="7964287" y="423409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7" name="Google Shape;1097;p70"/>
          <p:cNvSpPr/>
          <p:nvPr/>
        </p:nvSpPr>
        <p:spPr>
          <a:xfrm>
            <a:off x="8372430" y="-48912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18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98" name="Google Shape;1098;p70"/>
          <p:cNvCxnSpPr/>
          <p:nvPr/>
        </p:nvCxnSpPr>
        <p:spPr>
          <a:xfrm>
            <a:off x="814225" y="677513"/>
            <a:ext cx="373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409</Words>
  <Application>Microsoft Office PowerPoint</Application>
  <PresentationFormat>Diavetítés a képernyőre (16:9 oldalarány)</PresentationFormat>
  <Paragraphs>47</Paragraphs>
  <Slides>8</Slides>
  <Notes>8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4" baseType="lpstr">
      <vt:lpstr>Arial</vt:lpstr>
      <vt:lpstr>DM Sans Medium</vt:lpstr>
      <vt:lpstr>Nunito Light</vt:lpstr>
      <vt:lpstr>DM Sans</vt:lpstr>
      <vt:lpstr>Outfit</vt:lpstr>
      <vt:lpstr>Data Collection and Analysis - Master of Science in Community Health and Prevention Research by Slidesgo</vt:lpstr>
      <vt:lpstr>Student Grades Are Hard to Predict: A Machine Learning Analysis on Synthetic Educational Data</vt:lpstr>
      <vt:lpstr>Student Performance Dataset from Kaggle </vt:lpstr>
      <vt:lpstr>Data Cleaning Steps</vt:lpstr>
      <vt:lpstr>Feature Importance according to Random Forest</vt:lpstr>
      <vt:lpstr>Results of the Random Forest Regression</vt:lpstr>
      <vt:lpstr>Key Metrics</vt:lpstr>
      <vt:lpstr>PowerPoint-bemutató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Berekméri Barna</dc:creator>
  <cp:lastModifiedBy>Berekméri Barna</cp:lastModifiedBy>
  <cp:revision>1</cp:revision>
  <dcterms:modified xsi:type="dcterms:W3CDTF">2025-11-30T15:21:45Z</dcterms:modified>
</cp:coreProperties>
</file>